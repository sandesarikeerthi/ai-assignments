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7" r:id="rId11"/>
    <p:sldId id="266" r:id="rId12"/>
    <p:sldId id="268" r:id="rId13"/>
    <p:sldId id="265" r:id="rId14"/>
    <p:sldId id="269" r:id="rId15"/>
  </p:sldIdLst>
  <p:sldSz cx="14630400" cy="8229600"/>
  <p:notesSz cx="8229600" cy="14630400"/>
  <p:embeddedFontLst>
    <p:embeddedFont>
      <p:font typeface="Inter"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13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1379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xml"/><Relationship Id="rId5" Type="http://schemas.openxmlformats.org/officeDocument/2006/relationships/image" Target="../media/image21.jpeg"/><Relationship Id="rId4" Type="http://schemas.openxmlformats.org/officeDocument/2006/relationships/image" Target="../media/image20.jpeg"/></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xml"/><Relationship Id="rId4" Type="http://schemas.openxmlformats.org/officeDocument/2006/relationships/image" Target="../media/image24.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144000" y="0"/>
            <a:ext cx="5486400" cy="8229600"/>
          </a:xfrm>
          <a:prstGeom prst="rect">
            <a:avLst/>
          </a:prstGeom>
          <a:solidFill>
            <a:srgbClr val="DADBF1"/>
          </a:solidFill>
          <a:ln/>
        </p:spPr>
      </p:sp>
      <p:pic>
        <p:nvPicPr>
          <p:cNvPr id="3" name="Image 0" descr="preencoded.png"/>
          <p:cNvPicPr>
            <a:picLocks noChangeAspect="1"/>
          </p:cNvPicPr>
          <p:nvPr/>
        </p:nvPicPr>
        <p:blipFill>
          <a:blip r:embed="rId3"/>
          <a:stretch>
            <a:fillRect/>
          </a:stretch>
        </p:blipFill>
        <p:spPr>
          <a:xfrm>
            <a:off x="9257348" y="170021"/>
            <a:ext cx="5259705" cy="7889558"/>
          </a:xfrm>
          <a:prstGeom prst="rect">
            <a:avLst/>
          </a:prstGeom>
        </p:spPr>
      </p:pic>
      <p:sp>
        <p:nvSpPr>
          <p:cNvPr id="4" name="Text 1"/>
          <p:cNvSpPr/>
          <p:nvPr/>
        </p:nvSpPr>
        <p:spPr>
          <a:xfrm>
            <a:off x="113348" y="170022"/>
            <a:ext cx="8535352" cy="6859428"/>
          </a:xfrm>
          <a:prstGeom prst="rect">
            <a:avLst/>
          </a:prstGeom>
          <a:noFill/>
          <a:ln/>
        </p:spPr>
        <p:txBody>
          <a:bodyPr wrap="square" lIns="0" tIns="0" rIns="0" bIns="0" rtlCol="0" anchor="t"/>
          <a:lstStyle/>
          <a:p>
            <a:pPr marL="0" indent="0" algn="l">
              <a:lnSpc>
                <a:spcPts val="5550"/>
              </a:lnSpc>
              <a:buNone/>
            </a:pPr>
            <a:r>
              <a:rPr lang="en-US" sz="4000" b="1" dirty="0">
                <a:solidFill>
                  <a:srgbClr val="000000"/>
                </a:solidFill>
                <a:latin typeface="Inter Bold" pitchFamily="34" charset="0"/>
                <a:ea typeface="Inter Bold" pitchFamily="34" charset="-122"/>
              </a:rPr>
              <a:t>AI-Driven Content Authenticity verification and </a:t>
            </a:r>
            <a:r>
              <a:rPr lang="en-US" sz="4000" b="1" dirty="0" err="1">
                <a:solidFill>
                  <a:srgbClr val="000000"/>
                </a:solidFill>
                <a:latin typeface="Inter Bold" pitchFamily="34" charset="0"/>
                <a:ea typeface="Inter Bold" pitchFamily="34" charset="-122"/>
              </a:rPr>
              <a:t>BlockChain</a:t>
            </a:r>
            <a:r>
              <a:rPr lang="en-US" sz="4000" b="1" dirty="0">
                <a:solidFill>
                  <a:srgbClr val="000000"/>
                </a:solidFill>
                <a:latin typeface="Inter Bold" pitchFamily="34" charset="0"/>
                <a:ea typeface="Inter Bold" pitchFamily="34" charset="-122"/>
              </a:rPr>
              <a:t> Audit </a:t>
            </a:r>
          </a:p>
          <a:p>
            <a:pPr marL="0" indent="0" algn="l">
              <a:lnSpc>
                <a:spcPts val="5550"/>
              </a:lnSpc>
              <a:buNone/>
            </a:pPr>
            <a:r>
              <a:rPr lang="en-US" sz="4000" b="1" dirty="0">
                <a:solidFill>
                  <a:srgbClr val="000000"/>
                </a:solidFill>
                <a:latin typeface="Inter Bold" pitchFamily="34" charset="0"/>
                <a:ea typeface="Inter Bold" pitchFamily="34" charset="-122"/>
              </a:rPr>
              <a:t>System</a:t>
            </a:r>
          </a:p>
          <a:p>
            <a:pPr marL="0" indent="0" algn="l">
              <a:lnSpc>
                <a:spcPts val="5550"/>
              </a:lnSpc>
              <a:buNone/>
            </a:pPr>
            <a:r>
              <a:rPr lang="en-US" sz="2000" b="1" dirty="0">
                <a:solidFill>
                  <a:srgbClr val="000000"/>
                </a:solidFill>
                <a:latin typeface="Inter Bold" pitchFamily="34" charset="0"/>
                <a:ea typeface="Inter Bold" pitchFamily="34" charset="-122"/>
              </a:rPr>
              <a:t>Team Members:</a:t>
            </a:r>
          </a:p>
          <a:p>
            <a:pPr marL="0" indent="0" algn="l">
              <a:lnSpc>
                <a:spcPts val="5550"/>
              </a:lnSpc>
              <a:buNone/>
            </a:pPr>
            <a:r>
              <a:rPr lang="en-US" sz="2000" b="1" dirty="0">
                <a:solidFill>
                  <a:srgbClr val="000000"/>
                </a:solidFill>
                <a:latin typeface="Inter Bold" pitchFamily="34" charset="0"/>
                <a:ea typeface="Inter Bold" pitchFamily="34" charset="-122"/>
              </a:rPr>
              <a:t>2303A51272  - </a:t>
            </a:r>
            <a:r>
              <a:rPr lang="en-US" sz="2000" b="1" dirty="0" err="1">
                <a:solidFill>
                  <a:srgbClr val="000000"/>
                </a:solidFill>
                <a:latin typeface="Inter Bold" pitchFamily="34" charset="0"/>
                <a:ea typeface="Inter Bold" pitchFamily="34" charset="-122"/>
              </a:rPr>
              <a:t>A.Srivani</a:t>
            </a:r>
            <a:endParaRPr lang="en-US" sz="2000" b="1" dirty="0">
              <a:solidFill>
                <a:srgbClr val="000000"/>
              </a:solidFill>
              <a:latin typeface="Inter Bold" pitchFamily="34" charset="0"/>
              <a:ea typeface="Inter Bold" pitchFamily="34" charset="-122"/>
            </a:endParaRPr>
          </a:p>
          <a:p>
            <a:pPr marL="0" indent="0" algn="l">
              <a:lnSpc>
                <a:spcPts val="5550"/>
              </a:lnSpc>
              <a:buNone/>
            </a:pPr>
            <a:r>
              <a:rPr lang="en-US" sz="2000" b="1" dirty="0">
                <a:solidFill>
                  <a:srgbClr val="000000"/>
                </a:solidFill>
                <a:latin typeface="Inter Bold" pitchFamily="34" charset="0"/>
                <a:ea typeface="Inter Bold" pitchFamily="34" charset="-122"/>
              </a:rPr>
              <a:t>2303A51923 – </a:t>
            </a:r>
            <a:r>
              <a:rPr lang="en-US" sz="2000" b="1" dirty="0" err="1">
                <a:solidFill>
                  <a:srgbClr val="000000"/>
                </a:solidFill>
                <a:latin typeface="Inter Bold" pitchFamily="34" charset="0"/>
                <a:ea typeface="Inter Bold" pitchFamily="34" charset="-122"/>
              </a:rPr>
              <a:t>V.Sravani</a:t>
            </a:r>
            <a:endParaRPr lang="en-US" sz="2000" b="1" dirty="0">
              <a:solidFill>
                <a:srgbClr val="000000"/>
              </a:solidFill>
              <a:latin typeface="Inter Bold" pitchFamily="34" charset="0"/>
              <a:ea typeface="Inter Bold" pitchFamily="34" charset="-122"/>
            </a:endParaRPr>
          </a:p>
          <a:p>
            <a:pPr marL="0" indent="0" algn="l">
              <a:lnSpc>
                <a:spcPts val="5550"/>
              </a:lnSpc>
              <a:buNone/>
            </a:pPr>
            <a:r>
              <a:rPr lang="en-US" sz="2000" b="1" dirty="0">
                <a:solidFill>
                  <a:srgbClr val="000000"/>
                </a:solidFill>
                <a:latin typeface="Inter Bold" pitchFamily="34" charset="0"/>
                <a:ea typeface="Inter Bold" pitchFamily="34" charset="-122"/>
              </a:rPr>
              <a:t>2303A510g6 – </a:t>
            </a:r>
            <a:r>
              <a:rPr lang="en-US" sz="2000" b="1" dirty="0" err="1">
                <a:solidFill>
                  <a:srgbClr val="000000"/>
                </a:solidFill>
                <a:latin typeface="Inter Bold" pitchFamily="34" charset="0"/>
                <a:ea typeface="Inter Bold" pitchFamily="34" charset="-122"/>
              </a:rPr>
              <a:t>G.Charanya</a:t>
            </a:r>
            <a:endParaRPr lang="en-US" sz="2000" b="1" dirty="0">
              <a:solidFill>
                <a:srgbClr val="000000"/>
              </a:solidFill>
              <a:latin typeface="Inter Bold" pitchFamily="34" charset="0"/>
              <a:ea typeface="Inter Bold" pitchFamily="34" charset="-122"/>
            </a:endParaRPr>
          </a:p>
          <a:p>
            <a:pPr marL="0" indent="0" algn="l">
              <a:lnSpc>
                <a:spcPts val="5550"/>
              </a:lnSpc>
              <a:buNone/>
            </a:pPr>
            <a:r>
              <a:rPr lang="en-US" sz="2000" b="1" dirty="0">
                <a:solidFill>
                  <a:srgbClr val="000000"/>
                </a:solidFill>
                <a:latin typeface="Inter Bold" pitchFamily="34" charset="0"/>
                <a:ea typeface="Inter Bold" pitchFamily="34" charset="-122"/>
              </a:rPr>
              <a:t>2303A51635 – </a:t>
            </a:r>
            <a:r>
              <a:rPr lang="en-US" sz="2000" b="1" dirty="0" err="1">
                <a:solidFill>
                  <a:srgbClr val="000000"/>
                </a:solidFill>
                <a:latin typeface="Inter Bold" pitchFamily="34" charset="0"/>
                <a:ea typeface="Inter Bold" pitchFamily="34" charset="-122"/>
              </a:rPr>
              <a:t>S.Keerthi</a:t>
            </a:r>
            <a:endParaRPr lang="en-US" sz="2000" b="1" dirty="0">
              <a:solidFill>
                <a:srgbClr val="000000"/>
              </a:solidFill>
              <a:latin typeface="Inter Bold" pitchFamily="34" charset="0"/>
              <a:ea typeface="Inter Bold" pitchFamily="34" charset="-122"/>
            </a:endParaRPr>
          </a:p>
          <a:p>
            <a:pPr marL="0" indent="0" algn="l">
              <a:lnSpc>
                <a:spcPts val="5550"/>
              </a:lnSpc>
              <a:buNone/>
            </a:pPr>
            <a:r>
              <a:rPr lang="en-US" sz="2000" b="1" dirty="0">
                <a:solidFill>
                  <a:srgbClr val="000000"/>
                </a:solidFill>
                <a:latin typeface="Inter Bold" pitchFamily="34" charset="0"/>
                <a:ea typeface="Inter Bold" pitchFamily="34" charset="-122"/>
              </a:rPr>
              <a:t>2303A510h4 – </a:t>
            </a:r>
            <a:r>
              <a:rPr lang="en-US" sz="2000" b="1" dirty="0" err="1">
                <a:solidFill>
                  <a:srgbClr val="000000"/>
                </a:solidFill>
                <a:latin typeface="Inter Bold" pitchFamily="34" charset="0"/>
                <a:ea typeface="Inter Bold" pitchFamily="34" charset="-122"/>
              </a:rPr>
              <a:t>T.Meghana</a:t>
            </a:r>
            <a:endParaRPr lang="en-US" sz="2000" b="1" dirty="0">
              <a:solidFill>
                <a:srgbClr val="000000"/>
              </a:solidFill>
              <a:latin typeface="Inter Bold" pitchFamily="34" charset="0"/>
              <a:ea typeface="Inter Bold" pitchFamily="34" charset="-122"/>
            </a:endParaRPr>
          </a:p>
          <a:p>
            <a:pPr marL="0" indent="0" algn="l">
              <a:lnSpc>
                <a:spcPts val="5550"/>
              </a:lnSpc>
              <a:buNone/>
            </a:pPr>
            <a:endParaRPr lang="en-US" sz="4450" dirty="0"/>
          </a:p>
        </p:txBody>
      </p:sp>
      <p:sp>
        <p:nvSpPr>
          <p:cNvPr id="5" name="Text 2"/>
          <p:cNvSpPr/>
          <p:nvPr/>
        </p:nvSpPr>
        <p:spPr>
          <a:xfrm>
            <a:off x="113348" y="3705226"/>
            <a:ext cx="8236864" cy="3250287"/>
          </a:xfrm>
          <a:prstGeom prst="rect">
            <a:avLst/>
          </a:prstGeom>
          <a:noFill/>
          <a:ln/>
        </p:spPr>
        <p:txBody>
          <a:bodyPr wrap="square" lIns="0" tIns="0" rIns="0" bIns="0" rtlCol="0" anchor="t"/>
          <a:lstStyle/>
          <a:p>
            <a:pPr marL="0" indent="0" algn="l">
              <a:lnSpc>
                <a:spcPts val="2850"/>
              </a:lnSpc>
              <a:buNone/>
            </a:pP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232535"/>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Project Overview</a:t>
            </a:r>
            <a:endParaRPr lang="en-US" sz="4450" dirty="0"/>
          </a:p>
        </p:txBody>
      </p:sp>
      <p:sp>
        <p:nvSpPr>
          <p:cNvPr id="3" name="Text 1"/>
          <p:cNvSpPr/>
          <p:nvPr/>
        </p:nvSpPr>
        <p:spPr>
          <a:xfrm>
            <a:off x="793790" y="2904053"/>
            <a:ext cx="8284131"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This innovative system addresses the critical challenge of digital content authenticity in an era of sophisticated deepfakes and misinformation. By leveraging hybrid AI models for content analysis and blockchain technology for immutable verification records, the platform provides real-time authentication capabilities.</a:t>
            </a:r>
            <a:endParaRPr lang="en-US" sz="1750" dirty="0"/>
          </a:p>
        </p:txBody>
      </p:sp>
      <p:sp>
        <p:nvSpPr>
          <p:cNvPr id="4" name="Text 2"/>
          <p:cNvSpPr/>
          <p:nvPr/>
        </p:nvSpPr>
        <p:spPr>
          <a:xfrm>
            <a:off x="793790" y="4922639"/>
            <a:ext cx="8284131" cy="1451610"/>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The system processes digital content through multiple AI verification layers, generates cryptographic hashes, and stores verification results on-chain. This creates a transparent, tamper-proof audit trail accessible to all stakeholders.</a:t>
            </a:r>
            <a:endParaRPr lang="en-US" sz="1750" dirty="0"/>
          </a:p>
        </p:txBody>
      </p:sp>
      <p:pic>
        <p:nvPicPr>
          <p:cNvPr id="5" name="Image 0" descr="preencoded.png"/>
          <p:cNvPicPr>
            <a:picLocks noChangeAspect="1"/>
          </p:cNvPicPr>
          <p:nvPr/>
        </p:nvPicPr>
        <p:blipFill>
          <a:blip r:embed="rId3"/>
          <a:stretch>
            <a:fillRect/>
          </a:stretch>
        </p:blipFill>
        <p:spPr>
          <a:xfrm>
            <a:off x="9638943" y="2536627"/>
            <a:ext cx="4205168" cy="42051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69025" y="616506"/>
            <a:ext cx="5493425" cy="686633"/>
          </a:xfrm>
          <a:prstGeom prst="rect">
            <a:avLst/>
          </a:prstGeom>
          <a:noFill/>
          <a:ln/>
        </p:spPr>
        <p:txBody>
          <a:bodyPr wrap="none" lIns="0" tIns="0" rIns="0" bIns="0" rtlCol="0" anchor="t"/>
          <a:lstStyle/>
          <a:p>
            <a:pPr marL="0" indent="0" algn="l">
              <a:lnSpc>
                <a:spcPts val="5400"/>
              </a:lnSpc>
              <a:buNone/>
            </a:pPr>
            <a:r>
              <a:rPr lang="en-US" sz="4300" b="1" dirty="0">
                <a:solidFill>
                  <a:srgbClr val="000000"/>
                </a:solidFill>
                <a:latin typeface="Inter Bold" pitchFamily="34" charset="0"/>
                <a:ea typeface="Inter Bold" pitchFamily="34" charset="-122"/>
                <a:cs typeface="Inter Bold" pitchFamily="34" charset="-120"/>
              </a:rPr>
              <a:t>Key Objectives</a:t>
            </a:r>
            <a:endParaRPr lang="en-US" sz="4300" dirty="0"/>
          </a:p>
        </p:txBody>
      </p:sp>
      <p:sp>
        <p:nvSpPr>
          <p:cNvPr id="3" name="Shape 1"/>
          <p:cNvSpPr/>
          <p:nvPr/>
        </p:nvSpPr>
        <p:spPr>
          <a:xfrm>
            <a:off x="769025" y="1728787"/>
            <a:ext cx="6439733" cy="2835712"/>
          </a:xfrm>
          <a:prstGeom prst="roundRect">
            <a:avLst>
              <a:gd name="adj" fmla="val 3255"/>
            </a:avLst>
          </a:prstGeom>
          <a:solidFill>
            <a:srgbClr val="DADBF1"/>
          </a:solidFill>
          <a:ln w="7620">
            <a:solidFill>
              <a:srgbClr val="C0C1D7"/>
            </a:solidFill>
            <a:prstDash val="solid"/>
          </a:ln>
        </p:spPr>
      </p:sp>
      <p:sp>
        <p:nvSpPr>
          <p:cNvPr id="4" name="Shape 2"/>
          <p:cNvSpPr/>
          <p:nvPr/>
        </p:nvSpPr>
        <p:spPr>
          <a:xfrm>
            <a:off x="996315" y="1956078"/>
            <a:ext cx="659130" cy="659130"/>
          </a:xfrm>
          <a:prstGeom prst="roundRect">
            <a:avLst>
              <a:gd name="adj" fmla="val 13871445"/>
            </a:avLst>
          </a:prstGeom>
          <a:solidFill>
            <a:srgbClr val="4950BC"/>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7528" y="2137291"/>
            <a:ext cx="296585" cy="296585"/>
          </a:xfrm>
          <a:prstGeom prst="rect">
            <a:avLst/>
          </a:prstGeom>
        </p:spPr>
      </p:pic>
      <p:sp>
        <p:nvSpPr>
          <p:cNvPr id="6" name="Text 3"/>
          <p:cNvSpPr/>
          <p:nvPr/>
        </p:nvSpPr>
        <p:spPr>
          <a:xfrm>
            <a:off x="996315" y="2827972"/>
            <a:ext cx="2810470" cy="343257"/>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Inter Bold" pitchFamily="34" charset="0"/>
                <a:ea typeface="Inter Bold" pitchFamily="34" charset="-122"/>
                <a:cs typeface="Inter Bold" pitchFamily="34" charset="-120"/>
              </a:rPr>
              <a:t>AI-Powered Analysis</a:t>
            </a:r>
            <a:endParaRPr lang="en-US" sz="2150" dirty="0"/>
          </a:p>
        </p:txBody>
      </p:sp>
      <p:sp>
        <p:nvSpPr>
          <p:cNvPr id="7" name="Text 4"/>
          <p:cNvSpPr/>
          <p:nvPr/>
        </p:nvSpPr>
        <p:spPr>
          <a:xfrm>
            <a:off x="996315" y="3298865"/>
            <a:ext cx="5985153" cy="1038344"/>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Deploy machine learning models to detect anomalies, identify manipulated content, and verify digital signatures with high accuracy</a:t>
            </a:r>
            <a:endParaRPr lang="en-US" sz="1700" dirty="0"/>
          </a:p>
        </p:txBody>
      </p:sp>
      <p:sp>
        <p:nvSpPr>
          <p:cNvPr id="8" name="Shape 5"/>
          <p:cNvSpPr/>
          <p:nvPr/>
        </p:nvSpPr>
        <p:spPr>
          <a:xfrm>
            <a:off x="7421523" y="1728787"/>
            <a:ext cx="6439853" cy="2835712"/>
          </a:xfrm>
          <a:prstGeom prst="roundRect">
            <a:avLst>
              <a:gd name="adj" fmla="val 3255"/>
            </a:avLst>
          </a:prstGeom>
          <a:solidFill>
            <a:srgbClr val="DADBF1"/>
          </a:solidFill>
          <a:ln w="7620">
            <a:solidFill>
              <a:srgbClr val="C0C1D7"/>
            </a:solidFill>
            <a:prstDash val="solid"/>
          </a:ln>
        </p:spPr>
      </p:sp>
      <p:sp>
        <p:nvSpPr>
          <p:cNvPr id="9" name="Shape 6"/>
          <p:cNvSpPr/>
          <p:nvPr/>
        </p:nvSpPr>
        <p:spPr>
          <a:xfrm>
            <a:off x="7648813" y="1956078"/>
            <a:ext cx="659130" cy="659130"/>
          </a:xfrm>
          <a:prstGeom prst="roundRect">
            <a:avLst>
              <a:gd name="adj" fmla="val 13871445"/>
            </a:avLst>
          </a:prstGeom>
          <a:solidFill>
            <a:srgbClr val="4950BC"/>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30026" y="2137291"/>
            <a:ext cx="296585" cy="296585"/>
          </a:xfrm>
          <a:prstGeom prst="rect">
            <a:avLst/>
          </a:prstGeom>
        </p:spPr>
      </p:pic>
      <p:sp>
        <p:nvSpPr>
          <p:cNvPr id="11" name="Text 7"/>
          <p:cNvSpPr/>
          <p:nvPr/>
        </p:nvSpPr>
        <p:spPr>
          <a:xfrm>
            <a:off x="7648813" y="2827972"/>
            <a:ext cx="2746653" cy="343257"/>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Inter Bold" pitchFamily="34" charset="0"/>
                <a:ea typeface="Inter Bold" pitchFamily="34" charset="-122"/>
                <a:cs typeface="Inter Bold" pitchFamily="34" charset="-120"/>
              </a:rPr>
              <a:t>Immutable Records</a:t>
            </a:r>
            <a:endParaRPr lang="en-US" sz="2150" dirty="0"/>
          </a:p>
        </p:txBody>
      </p:sp>
      <p:sp>
        <p:nvSpPr>
          <p:cNvPr id="12" name="Text 8"/>
          <p:cNvSpPr/>
          <p:nvPr/>
        </p:nvSpPr>
        <p:spPr>
          <a:xfrm>
            <a:off x="7648813" y="3298865"/>
            <a:ext cx="5985272" cy="1038344"/>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Store verification hashes and metadata on blockchain to ensure data integrity and prevent tampering throughout content lifecycle</a:t>
            </a:r>
            <a:endParaRPr lang="en-US" sz="1700" dirty="0"/>
          </a:p>
        </p:txBody>
      </p:sp>
      <p:sp>
        <p:nvSpPr>
          <p:cNvPr id="13" name="Shape 9"/>
          <p:cNvSpPr/>
          <p:nvPr/>
        </p:nvSpPr>
        <p:spPr>
          <a:xfrm>
            <a:off x="769025" y="4777264"/>
            <a:ext cx="6439733" cy="2835712"/>
          </a:xfrm>
          <a:prstGeom prst="roundRect">
            <a:avLst>
              <a:gd name="adj" fmla="val 3255"/>
            </a:avLst>
          </a:prstGeom>
          <a:solidFill>
            <a:srgbClr val="DADBF1"/>
          </a:solidFill>
          <a:ln w="7620">
            <a:solidFill>
              <a:srgbClr val="C0C1D7"/>
            </a:solidFill>
            <a:prstDash val="solid"/>
          </a:ln>
        </p:spPr>
      </p:sp>
      <p:sp>
        <p:nvSpPr>
          <p:cNvPr id="14" name="Shape 10"/>
          <p:cNvSpPr/>
          <p:nvPr/>
        </p:nvSpPr>
        <p:spPr>
          <a:xfrm>
            <a:off x="996315" y="5004554"/>
            <a:ext cx="659130" cy="659130"/>
          </a:xfrm>
          <a:prstGeom prst="roundRect">
            <a:avLst>
              <a:gd name="adj" fmla="val 13871445"/>
            </a:avLst>
          </a:prstGeom>
          <a:solidFill>
            <a:srgbClr val="4950BC"/>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77528" y="5185767"/>
            <a:ext cx="296585" cy="296585"/>
          </a:xfrm>
          <a:prstGeom prst="rect">
            <a:avLst/>
          </a:prstGeom>
        </p:spPr>
      </p:pic>
      <p:sp>
        <p:nvSpPr>
          <p:cNvPr id="16" name="Text 11"/>
          <p:cNvSpPr/>
          <p:nvPr/>
        </p:nvSpPr>
        <p:spPr>
          <a:xfrm>
            <a:off x="996315" y="5876449"/>
            <a:ext cx="2984302" cy="343257"/>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Inter Bold" pitchFamily="34" charset="0"/>
                <a:ea typeface="Inter Bold" pitchFamily="34" charset="-122"/>
                <a:cs typeface="Inter Bold" pitchFamily="34" charset="-120"/>
              </a:rPr>
              <a:t>Real-Time Verification</a:t>
            </a:r>
            <a:endParaRPr lang="en-US" sz="2150" dirty="0"/>
          </a:p>
        </p:txBody>
      </p:sp>
      <p:sp>
        <p:nvSpPr>
          <p:cNvPr id="17" name="Text 12"/>
          <p:cNvSpPr/>
          <p:nvPr/>
        </p:nvSpPr>
        <p:spPr>
          <a:xfrm>
            <a:off x="996315" y="6347341"/>
            <a:ext cx="5985153" cy="1038344"/>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Process and authenticate content within milliseconds, enabling immediate validation for time-sensitive applications and streaming platforms</a:t>
            </a:r>
            <a:endParaRPr lang="en-US" sz="1700" dirty="0"/>
          </a:p>
        </p:txBody>
      </p:sp>
      <p:sp>
        <p:nvSpPr>
          <p:cNvPr id="18" name="Shape 13"/>
          <p:cNvSpPr/>
          <p:nvPr/>
        </p:nvSpPr>
        <p:spPr>
          <a:xfrm>
            <a:off x="7421523" y="4777264"/>
            <a:ext cx="6439853" cy="2835712"/>
          </a:xfrm>
          <a:prstGeom prst="roundRect">
            <a:avLst>
              <a:gd name="adj" fmla="val 3255"/>
            </a:avLst>
          </a:prstGeom>
          <a:solidFill>
            <a:srgbClr val="DADBF1"/>
          </a:solidFill>
          <a:ln w="7620">
            <a:solidFill>
              <a:srgbClr val="C0C1D7"/>
            </a:solidFill>
            <a:prstDash val="solid"/>
          </a:ln>
        </p:spPr>
      </p:sp>
      <p:sp>
        <p:nvSpPr>
          <p:cNvPr id="19" name="Shape 14"/>
          <p:cNvSpPr/>
          <p:nvPr/>
        </p:nvSpPr>
        <p:spPr>
          <a:xfrm>
            <a:off x="7648813" y="5004554"/>
            <a:ext cx="659130" cy="659130"/>
          </a:xfrm>
          <a:prstGeom prst="roundRect">
            <a:avLst>
              <a:gd name="adj" fmla="val 13871445"/>
            </a:avLst>
          </a:prstGeom>
          <a:solidFill>
            <a:srgbClr val="4950BC"/>
          </a:solidFill>
          <a:ln/>
        </p:spPr>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30026" y="5185767"/>
            <a:ext cx="296585" cy="296585"/>
          </a:xfrm>
          <a:prstGeom prst="rect">
            <a:avLst/>
          </a:prstGeom>
        </p:spPr>
      </p:pic>
      <p:sp>
        <p:nvSpPr>
          <p:cNvPr id="21" name="Text 15"/>
          <p:cNvSpPr/>
          <p:nvPr/>
        </p:nvSpPr>
        <p:spPr>
          <a:xfrm>
            <a:off x="7648813" y="5876449"/>
            <a:ext cx="2746653" cy="343257"/>
          </a:xfrm>
          <a:prstGeom prst="rect">
            <a:avLst/>
          </a:prstGeom>
          <a:noFill/>
          <a:ln/>
        </p:spPr>
        <p:txBody>
          <a:bodyPr wrap="none" lIns="0" tIns="0" rIns="0" bIns="0" rtlCol="0" anchor="t"/>
          <a:lstStyle/>
          <a:p>
            <a:pPr marL="0" indent="0" algn="l">
              <a:lnSpc>
                <a:spcPts val="2700"/>
              </a:lnSpc>
              <a:buNone/>
            </a:pPr>
            <a:r>
              <a:rPr lang="en-US" sz="2150" b="1" dirty="0">
                <a:solidFill>
                  <a:srgbClr val="272525"/>
                </a:solidFill>
                <a:latin typeface="Inter Bold" pitchFamily="34" charset="0"/>
                <a:ea typeface="Inter Bold" pitchFamily="34" charset="-122"/>
                <a:cs typeface="Inter Bold" pitchFamily="34" charset="-120"/>
              </a:rPr>
              <a:t>Trust Framework</a:t>
            </a:r>
            <a:endParaRPr lang="en-US" sz="2150" dirty="0"/>
          </a:p>
        </p:txBody>
      </p:sp>
      <p:sp>
        <p:nvSpPr>
          <p:cNvPr id="22" name="Text 16"/>
          <p:cNvSpPr/>
          <p:nvPr/>
        </p:nvSpPr>
        <p:spPr>
          <a:xfrm>
            <a:off x="7648813" y="6347341"/>
            <a:ext cx="5985272" cy="1038344"/>
          </a:xfrm>
          <a:prstGeom prst="rect">
            <a:avLst/>
          </a:prstGeom>
          <a:noFill/>
          <a:ln/>
        </p:spPr>
        <p:txBody>
          <a:bodyPr wrap="square" lIns="0" tIns="0" rIns="0" bIns="0" rtlCol="0" anchor="t"/>
          <a:lstStyle/>
          <a:p>
            <a:pPr marL="0" indent="0" algn="l">
              <a:lnSpc>
                <a:spcPts val="2700"/>
              </a:lnSpc>
              <a:buNone/>
            </a:pPr>
            <a:r>
              <a:rPr lang="en-US" sz="1700" dirty="0">
                <a:solidFill>
                  <a:srgbClr val="272525"/>
                </a:solidFill>
                <a:latin typeface="Inter" pitchFamily="34" charset="0"/>
                <a:ea typeface="Inter" pitchFamily="34" charset="-122"/>
                <a:cs typeface="Inter" pitchFamily="34" charset="-120"/>
              </a:rPr>
              <a:t>Establish transparent verification protocols that build user confidence and provide verifiable proof of content authenticity</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83431"/>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Target Stakeholders</a:t>
            </a:r>
            <a:endParaRPr lang="en-US" sz="4450" dirty="0"/>
          </a:p>
        </p:txBody>
      </p:sp>
      <p:pic>
        <p:nvPicPr>
          <p:cNvPr id="3" name="Image 0" descr="preencoded.png"/>
          <p:cNvPicPr>
            <a:picLocks noChangeAspect="1"/>
          </p:cNvPicPr>
          <p:nvPr/>
        </p:nvPicPr>
        <p:blipFill>
          <a:blip r:embed="rId3"/>
          <a:stretch>
            <a:fillRect/>
          </a:stretch>
        </p:blipFill>
        <p:spPr>
          <a:xfrm>
            <a:off x="793790" y="1945838"/>
            <a:ext cx="2194560" cy="2194560"/>
          </a:xfrm>
          <a:prstGeom prst="rect">
            <a:avLst/>
          </a:prstGeom>
        </p:spPr>
      </p:pic>
      <p:sp>
        <p:nvSpPr>
          <p:cNvPr id="4" name="Text 1"/>
          <p:cNvSpPr/>
          <p:nvPr/>
        </p:nvSpPr>
        <p:spPr>
          <a:xfrm>
            <a:off x="793790" y="4423886"/>
            <a:ext cx="2859762"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Media Organizations</a:t>
            </a:r>
            <a:endParaRPr lang="en-US" sz="2200" dirty="0"/>
          </a:p>
        </p:txBody>
      </p:sp>
      <p:sp>
        <p:nvSpPr>
          <p:cNvPr id="5" name="Text 2"/>
          <p:cNvSpPr/>
          <p:nvPr/>
        </p:nvSpPr>
        <p:spPr>
          <a:xfrm>
            <a:off x="793790" y="4914305"/>
            <a:ext cx="3048000" cy="217741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News outlets, broadcasters, and publishers seeking to verify content authenticity before publication and maintain journalistic integrity</a:t>
            </a:r>
            <a:endParaRPr lang="en-US" sz="1750" dirty="0"/>
          </a:p>
        </p:txBody>
      </p:sp>
      <p:pic>
        <p:nvPicPr>
          <p:cNvPr id="6" name="Image 1" descr="preencoded.png"/>
          <p:cNvPicPr>
            <a:picLocks noChangeAspect="1"/>
          </p:cNvPicPr>
          <p:nvPr/>
        </p:nvPicPr>
        <p:blipFill>
          <a:blip r:embed="rId4"/>
          <a:stretch>
            <a:fillRect/>
          </a:stretch>
        </p:blipFill>
        <p:spPr>
          <a:xfrm>
            <a:off x="4125278" y="1945838"/>
            <a:ext cx="2194560" cy="2194560"/>
          </a:xfrm>
          <a:prstGeom prst="rect">
            <a:avLst/>
          </a:prstGeom>
        </p:spPr>
      </p:pic>
      <p:sp>
        <p:nvSpPr>
          <p:cNvPr id="7" name="Text 3"/>
          <p:cNvSpPr/>
          <p:nvPr/>
        </p:nvSpPr>
        <p:spPr>
          <a:xfrm>
            <a:off x="4125278" y="442388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Platform Providers</a:t>
            </a:r>
            <a:endParaRPr lang="en-US" sz="2200" dirty="0"/>
          </a:p>
        </p:txBody>
      </p:sp>
      <p:sp>
        <p:nvSpPr>
          <p:cNvPr id="8" name="Text 4"/>
          <p:cNvSpPr/>
          <p:nvPr/>
        </p:nvSpPr>
        <p:spPr>
          <a:xfrm>
            <a:off x="4125278" y="4914305"/>
            <a:ext cx="3048119" cy="217741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Social networks, content sharing platforms, and streaming services requiring automated verification for user-generated content at scale</a:t>
            </a:r>
            <a:endParaRPr lang="en-US" sz="1750" dirty="0"/>
          </a:p>
        </p:txBody>
      </p:sp>
      <p:pic>
        <p:nvPicPr>
          <p:cNvPr id="9" name="Image 2" descr="preencoded.png"/>
          <p:cNvPicPr>
            <a:picLocks noChangeAspect="1"/>
          </p:cNvPicPr>
          <p:nvPr/>
        </p:nvPicPr>
        <p:blipFill>
          <a:blip r:embed="rId5"/>
          <a:stretch>
            <a:fillRect/>
          </a:stretch>
        </p:blipFill>
        <p:spPr>
          <a:xfrm>
            <a:off x="7456884" y="1945838"/>
            <a:ext cx="2194560" cy="2194560"/>
          </a:xfrm>
          <a:prstGeom prst="rect">
            <a:avLst/>
          </a:prstGeom>
        </p:spPr>
      </p:pic>
      <p:sp>
        <p:nvSpPr>
          <p:cNvPr id="10" name="Text 5"/>
          <p:cNvSpPr/>
          <p:nvPr/>
        </p:nvSpPr>
        <p:spPr>
          <a:xfrm>
            <a:off x="7456884" y="4423886"/>
            <a:ext cx="3048119" cy="708660"/>
          </a:xfrm>
          <a:prstGeom prst="rect">
            <a:avLst/>
          </a:prstGeom>
          <a:noFill/>
          <a:ln/>
        </p:spPr>
        <p:txBody>
          <a:bodyPr wrap="squar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Government Agencies</a:t>
            </a:r>
            <a:endParaRPr lang="en-US" sz="2200" dirty="0"/>
          </a:p>
        </p:txBody>
      </p:sp>
      <p:sp>
        <p:nvSpPr>
          <p:cNvPr id="11" name="Text 6"/>
          <p:cNvSpPr/>
          <p:nvPr/>
        </p:nvSpPr>
        <p:spPr>
          <a:xfrm>
            <a:off x="7456884" y="5268635"/>
            <a:ext cx="3048119" cy="217741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Regulatory bodies, defense departments, and public institutions needing secure authentication for official communications and sensitive documents</a:t>
            </a:r>
            <a:endParaRPr lang="en-US" sz="1750" dirty="0"/>
          </a:p>
        </p:txBody>
      </p:sp>
      <p:pic>
        <p:nvPicPr>
          <p:cNvPr id="12" name="Image 3" descr="preencoded.png"/>
          <p:cNvPicPr>
            <a:picLocks noChangeAspect="1"/>
          </p:cNvPicPr>
          <p:nvPr/>
        </p:nvPicPr>
        <p:blipFill>
          <a:blip r:embed="rId6"/>
          <a:stretch>
            <a:fillRect/>
          </a:stretch>
        </p:blipFill>
        <p:spPr>
          <a:xfrm>
            <a:off x="10788491" y="1945838"/>
            <a:ext cx="2194560" cy="2194560"/>
          </a:xfrm>
          <a:prstGeom prst="rect">
            <a:avLst/>
          </a:prstGeom>
        </p:spPr>
      </p:pic>
      <p:sp>
        <p:nvSpPr>
          <p:cNvPr id="13" name="Text 7"/>
          <p:cNvSpPr/>
          <p:nvPr/>
        </p:nvSpPr>
        <p:spPr>
          <a:xfrm>
            <a:off x="10788491" y="442388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Enterprise Clients</a:t>
            </a:r>
            <a:endParaRPr lang="en-US" sz="2200" dirty="0"/>
          </a:p>
        </p:txBody>
      </p:sp>
      <p:sp>
        <p:nvSpPr>
          <p:cNvPr id="14" name="Text 8"/>
          <p:cNvSpPr/>
          <p:nvPr/>
        </p:nvSpPr>
        <p:spPr>
          <a:xfrm>
            <a:off x="10788491" y="4914305"/>
            <a:ext cx="3048119" cy="217741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Corporations managing digital assets, intellectual property, and marketing materials requiring proof of authenticity for legal and compliance purposes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12351" y="568523"/>
            <a:ext cx="4784646" cy="598051"/>
          </a:xfrm>
          <a:prstGeom prst="rect">
            <a:avLst/>
          </a:prstGeom>
          <a:noFill/>
          <a:ln/>
        </p:spPr>
        <p:txBody>
          <a:bodyPr wrap="none" lIns="0" tIns="0" rIns="0" bIns="0" rtlCol="0" anchor="t"/>
          <a:lstStyle/>
          <a:p>
            <a:pPr marL="0" indent="0" algn="l">
              <a:lnSpc>
                <a:spcPts val="4700"/>
              </a:lnSpc>
              <a:buNone/>
            </a:pPr>
            <a:r>
              <a:rPr lang="en-US" sz="3750" b="1" dirty="0">
                <a:solidFill>
                  <a:srgbClr val="000000"/>
                </a:solidFill>
                <a:latin typeface="Inter Bold" pitchFamily="34" charset="0"/>
                <a:ea typeface="Inter Bold" pitchFamily="34" charset="-122"/>
                <a:cs typeface="Inter Bold" pitchFamily="34" charset="-120"/>
              </a:rPr>
              <a:t>Technology Stack</a:t>
            </a:r>
            <a:endParaRPr lang="en-US" sz="3750" dirty="0"/>
          </a:p>
        </p:txBody>
      </p:sp>
      <p:sp>
        <p:nvSpPr>
          <p:cNvPr id="3" name="Shape 1"/>
          <p:cNvSpPr/>
          <p:nvPr/>
        </p:nvSpPr>
        <p:spPr>
          <a:xfrm>
            <a:off x="712351" y="1489472"/>
            <a:ext cx="6522006" cy="3005018"/>
          </a:xfrm>
          <a:prstGeom prst="roundRect">
            <a:avLst>
              <a:gd name="adj" fmla="val 2675"/>
            </a:avLst>
          </a:prstGeom>
          <a:solidFill>
            <a:srgbClr val="FFFFFF"/>
          </a:solidFill>
          <a:ln w="22860">
            <a:solidFill>
              <a:srgbClr val="C0C1D7"/>
            </a:solidFill>
            <a:prstDash val="solid"/>
          </a:ln>
        </p:spPr>
      </p:sp>
      <p:sp>
        <p:nvSpPr>
          <p:cNvPr id="4" name="Shape 2"/>
          <p:cNvSpPr/>
          <p:nvPr/>
        </p:nvSpPr>
        <p:spPr>
          <a:xfrm>
            <a:off x="735211" y="1512332"/>
            <a:ext cx="6476286" cy="574119"/>
          </a:xfrm>
          <a:prstGeom prst="roundRect">
            <a:avLst>
              <a:gd name="adj" fmla="val 9223"/>
            </a:avLst>
          </a:prstGeom>
          <a:solidFill>
            <a:srgbClr val="DADBF1"/>
          </a:solidFill>
          <a:ln/>
        </p:spPr>
      </p:sp>
      <p:sp>
        <p:nvSpPr>
          <p:cNvPr id="5" name="Text 3"/>
          <p:cNvSpPr/>
          <p:nvPr/>
        </p:nvSpPr>
        <p:spPr>
          <a:xfrm>
            <a:off x="3829764" y="1616154"/>
            <a:ext cx="287060" cy="358735"/>
          </a:xfrm>
          <a:prstGeom prst="rect">
            <a:avLst/>
          </a:prstGeom>
          <a:noFill/>
          <a:ln/>
        </p:spPr>
        <p:txBody>
          <a:bodyPr wrap="none" lIns="0" tIns="0" rIns="0" bIns="0" rtlCol="0" anchor="t"/>
          <a:lstStyle/>
          <a:p>
            <a:pPr marL="0" indent="0" algn="l">
              <a:lnSpc>
                <a:spcPts val="2250"/>
              </a:lnSpc>
              <a:buNone/>
            </a:pPr>
            <a:r>
              <a:rPr lang="en-US" sz="2250" b="1" dirty="0">
                <a:solidFill>
                  <a:srgbClr val="272525"/>
                </a:solidFill>
                <a:latin typeface="Inter Bold" pitchFamily="34" charset="0"/>
                <a:ea typeface="Inter Bold" pitchFamily="34" charset="-122"/>
                <a:cs typeface="Inter Bold" pitchFamily="34" charset="-120"/>
              </a:rPr>
              <a:t>1</a:t>
            </a:r>
            <a:endParaRPr lang="en-US" sz="2250" dirty="0"/>
          </a:p>
        </p:txBody>
      </p:sp>
      <p:sp>
        <p:nvSpPr>
          <p:cNvPr id="6" name="Text 4"/>
          <p:cNvSpPr/>
          <p:nvPr/>
        </p:nvSpPr>
        <p:spPr>
          <a:xfrm>
            <a:off x="926544" y="2247900"/>
            <a:ext cx="2923580" cy="298966"/>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Programming Languages</a:t>
            </a:r>
            <a:endParaRPr lang="en-US" sz="1850" dirty="0"/>
          </a:p>
        </p:txBody>
      </p:sp>
      <p:sp>
        <p:nvSpPr>
          <p:cNvPr id="7" name="Text 5"/>
          <p:cNvSpPr/>
          <p:nvPr/>
        </p:nvSpPr>
        <p:spPr>
          <a:xfrm>
            <a:off x="926544" y="2643664"/>
            <a:ext cx="6093619" cy="1636633"/>
          </a:xfrm>
          <a:prstGeom prst="rect">
            <a:avLst/>
          </a:prstGeom>
          <a:noFill/>
          <a:ln/>
        </p:spPr>
        <p:txBody>
          <a:bodyPr wrap="square" lIns="0" tIns="0" rIns="0" bIns="0" rtlCol="0" anchor="t"/>
          <a:lstStyle/>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Python 3.9+ for AI model development</a:t>
            </a:r>
            <a:endParaRPr lang="en-US" sz="1500" dirty="0"/>
          </a:p>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JavaScript/TypeScript for frontend development</a:t>
            </a:r>
            <a:endParaRPr lang="en-US" sz="1500" dirty="0"/>
          </a:p>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Node.js for backend services</a:t>
            </a:r>
            <a:endParaRPr lang="en-US" sz="1500" dirty="0"/>
          </a:p>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Go for blockchain integration</a:t>
            </a:r>
            <a:endParaRPr lang="en-US" sz="1500" dirty="0"/>
          </a:p>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SQL for database operations</a:t>
            </a:r>
            <a:endParaRPr lang="en-US" sz="1500" dirty="0"/>
          </a:p>
        </p:txBody>
      </p:sp>
      <p:sp>
        <p:nvSpPr>
          <p:cNvPr id="8" name="Shape 6"/>
          <p:cNvSpPr/>
          <p:nvPr/>
        </p:nvSpPr>
        <p:spPr>
          <a:xfrm>
            <a:off x="7395805" y="1489472"/>
            <a:ext cx="6522125" cy="3005018"/>
          </a:xfrm>
          <a:prstGeom prst="roundRect">
            <a:avLst>
              <a:gd name="adj" fmla="val 2675"/>
            </a:avLst>
          </a:prstGeom>
          <a:solidFill>
            <a:srgbClr val="FFFFFF"/>
          </a:solidFill>
          <a:ln w="22860">
            <a:solidFill>
              <a:srgbClr val="C0C1D7"/>
            </a:solidFill>
            <a:prstDash val="solid"/>
          </a:ln>
        </p:spPr>
      </p:sp>
      <p:sp>
        <p:nvSpPr>
          <p:cNvPr id="9" name="Shape 7"/>
          <p:cNvSpPr/>
          <p:nvPr/>
        </p:nvSpPr>
        <p:spPr>
          <a:xfrm>
            <a:off x="7418665" y="1512332"/>
            <a:ext cx="6476405" cy="574119"/>
          </a:xfrm>
          <a:prstGeom prst="roundRect">
            <a:avLst>
              <a:gd name="adj" fmla="val 9223"/>
            </a:avLst>
          </a:prstGeom>
          <a:solidFill>
            <a:srgbClr val="DADBF1"/>
          </a:solidFill>
          <a:ln/>
        </p:spPr>
      </p:sp>
      <p:sp>
        <p:nvSpPr>
          <p:cNvPr id="10" name="Text 8"/>
          <p:cNvSpPr/>
          <p:nvPr/>
        </p:nvSpPr>
        <p:spPr>
          <a:xfrm>
            <a:off x="10513338" y="1616154"/>
            <a:ext cx="287060" cy="358735"/>
          </a:xfrm>
          <a:prstGeom prst="rect">
            <a:avLst/>
          </a:prstGeom>
          <a:noFill/>
          <a:ln/>
        </p:spPr>
        <p:txBody>
          <a:bodyPr wrap="none" lIns="0" tIns="0" rIns="0" bIns="0" rtlCol="0" anchor="t"/>
          <a:lstStyle/>
          <a:p>
            <a:pPr marL="0" indent="0" algn="l">
              <a:lnSpc>
                <a:spcPts val="2250"/>
              </a:lnSpc>
              <a:buNone/>
            </a:pPr>
            <a:r>
              <a:rPr lang="en-US" sz="2250" b="1" dirty="0">
                <a:solidFill>
                  <a:srgbClr val="272525"/>
                </a:solidFill>
                <a:latin typeface="Inter Bold" pitchFamily="34" charset="0"/>
                <a:ea typeface="Inter Bold" pitchFamily="34" charset="-122"/>
                <a:cs typeface="Inter Bold" pitchFamily="34" charset="-120"/>
              </a:rPr>
              <a:t>2</a:t>
            </a:r>
            <a:endParaRPr lang="en-US" sz="2250" dirty="0"/>
          </a:p>
        </p:txBody>
      </p:sp>
      <p:sp>
        <p:nvSpPr>
          <p:cNvPr id="11" name="Text 9"/>
          <p:cNvSpPr/>
          <p:nvPr/>
        </p:nvSpPr>
        <p:spPr>
          <a:xfrm>
            <a:off x="7609999" y="2247900"/>
            <a:ext cx="2392323" cy="298966"/>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AI/ML Frameworks</a:t>
            </a:r>
            <a:endParaRPr lang="en-US" sz="1850" dirty="0"/>
          </a:p>
        </p:txBody>
      </p:sp>
      <p:sp>
        <p:nvSpPr>
          <p:cNvPr id="12" name="Text 10"/>
          <p:cNvSpPr/>
          <p:nvPr/>
        </p:nvSpPr>
        <p:spPr>
          <a:xfrm>
            <a:off x="7609999" y="2643664"/>
            <a:ext cx="6093738" cy="1636633"/>
          </a:xfrm>
          <a:prstGeom prst="rect">
            <a:avLst/>
          </a:prstGeom>
          <a:noFill/>
          <a:ln/>
        </p:spPr>
        <p:txBody>
          <a:bodyPr wrap="square" lIns="0" tIns="0" rIns="0" bIns="0" rtlCol="0" anchor="t"/>
          <a:lstStyle/>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TensorFlow 2.x for neural network models</a:t>
            </a:r>
            <a:endParaRPr lang="en-US" sz="1500" dirty="0"/>
          </a:p>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PyTorch for deep learning research</a:t>
            </a:r>
            <a:endParaRPr lang="en-US" sz="1500" dirty="0"/>
          </a:p>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Scikit-learn for traditional ML algorithms</a:t>
            </a:r>
            <a:endParaRPr lang="en-US" sz="1500" dirty="0"/>
          </a:p>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OpenCV for image processing</a:t>
            </a:r>
            <a:endParaRPr lang="en-US" sz="1500" dirty="0"/>
          </a:p>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Hugging Face Transformers for NLP tasks</a:t>
            </a:r>
            <a:endParaRPr lang="en-US" sz="1500" dirty="0"/>
          </a:p>
        </p:txBody>
      </p:sp>
      <p:sp>
        <p:nvSpPr>
          <p:cNvPr id="13" name="Shape 11"/>
          <p:cNvSpPr/>
          <p:nvPr/>
        </p:nvSpPr>
        <p:spPr>
          <a:xfrm>
            <a:off x="712351" y="4655939"/>
            <a:ext cx="6522006" cy="3005018"/>
          </a:xfrm>
          <a:prstGeom prst="roundRect">
            <a:avLst>
              <a:gd name="adj" fmla="val 2675"/>
            </a:avLst>
          </a:prstGeom>
          <a:solidFill>
            <a:srgbClr val="FFFFFF"/>
          </a:solidFill>
          <a:ln w="22860">
            <a:solidFill>
              <a:srgbClr val="C0C1D7"/>
            </a:solidFill>
            <a:prstDash val="solid"/>
          </a:ln>
        </p:spPr>
      </p:sp>
      <p:sp>
        <p:nvSpPr>
          <p:cNvPr id="14" name="Shape 12"/>
          <p:cNvSpPr/>
          <p:nvPr/>
        </p:nvSpPr>
        <p:spPr>
          <a:xfrm>
            <a:off x="735211" y="4678799"/>
            <a:ext cx="6476286" cy="574119"/>
          </a:xfrm>
          <a:prstGeom prst="roundRect">
            <a:avLst>
              <a:gd name="adj" fmla="val 9223"/>
            </a:avLst>
          </a:prstGeom>
          <a:solidFill>
            <a:srgbClr val="DADBF1"/>
          </a:solidFill>
          <a:ln/>
        </p:spPr>
      </p:sp>
      <p:sp>
        <p:nvSpPr>
          <p:cNvPr id="15" name="Text 13"/>
          <p:cNvSpPr/>
          <p:nvPr/>
        </p:nvSpPr>
        <p:spPr>
          <a:xfrm>
            <a:off x="3829764" y="4782622"/>
            <a:ext cx="287060" cy="358735"/>
          </a:xfrm>
          <a:prstGeom prst="rect">
            <a:avLst/>
          </a:prstGeom>
          <a:noFill/>
          <a:ln/>
        </p:spPr>
        <p:txBody>
          <a:bodyPr wrap="none" lIns="0" tIns="0" rIns="0" bIns="0" rtlCol="0" anchor="t"/>
          <a:lstStyle/>
          <a:p>
            <a:pPr marL="0" indent="0" algn="l">
              <a:lnSpc>
                <a:spcPts val="2250"/>
              </a:lnSpc>
              <a:buNone/>
            </a:pPr>
            <a:r>
              <a:rPr lang="en-US" sz="2250" b="1" dirty="0">
                <a:solidFill>
                  <a:srgbClr val="272525"/>
                </a:solidFill>
                <a:latin typeface="Inter Bold" pitchFamily="34" charset="0"/>
                <a:ea typeface="Inter Bold" pitchFamily="34" charset="-122"/>
                <a:cs typeface="Inter Bold" pitchFamily="34" charset="-120"/>
              </a:rPr>
              <a:t>3</a:t>
            </a:r>
            <a:endParaRPr lang="en-US" sz="2250" dirty="0"/>
          </a:p>
        </p:txBody>
      </p:sp>
      <p:sp>
        <p:nvSpPr>
          <p:cNvPr id="16" name="Text 14"/>
          <p:cNvSpPr/>
          <p:nvPr/>
        </p:nvSpPr>
        <p:spPr>
          <a:xfrm>
            <a:off x="926544" y="5414367"/>
            <a:ext cx="2392323" cy="298966"/>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Blockchain Tools</a:t>
            </a:r>
            <a:endParaRPr lang="en-US" sz="1850" dirty="0"/>
          </a:p>
        </p:txBody>
      </p:sp>
      <p:sp>
        <p:nvSpPr>
          <p:cNvPr id="17" name="Text 15"/>
          <p:cNvSpPr/>
          <p:nvPr/>
        </p:nvSpPr>
        <p:spPr>
          <a:xfrm>
            <a:off x="926544" y="5810131"/>
            <a:ext cx="6093619" cy="1636633"/>
          </a:xfrm>
          <a:prstGeom prst="rect">
            <a:avLst/>
          </a:prstGeom>
          <a:noFill/>
          <a:ln/>
        </p:spPr>
        <p:txBody>
          <a:bodyPr wrap="square" lIns="0" tIns="0" rIns="0" bIns="0" rtlCol="0" anchor="t"/>
          <a:lstStyle/>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Ethereum or Polygon for smart contracts</a:t>
            </a:r>
            <a:endParaRPr lang="en-US" sz="1500" dirty="0"/>
          </a:p>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IPFS for decentralized storage</a:t>
            </a:r>
            <a:endParaRPr lang="en-US" sz="1500" dirty="0"/>
          </a:p>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Web3.js for blockchain interaction</a:t>
            </a:r>
            <a:endParaRPr lang="en-US" sz="1500" dirty="0"/>
          </a:p>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Hardhat for contract testing</a:t>
            </a:r>
            <a:endParaRPr lang="en-US" sz="1500" dirty="0"/>
          </a:p>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Moralis for API integration</a:t>
            </a:r>
            <a:endParaRPr lang="en-US" sz="1500" dirty="0"/>
          </a:p>
        </p:txBody>
      </p:sp>
      <p:sp>
        <p:nvSpPr>
          <p:cNvPr id="18" name="Shape 16"/>
          <p:cNvSpPr/>
          <p:nvPr/>
        </p:nvSpPr>
        <p:spPr>
          <a:xfrm>
            <a:off x="7395805" y="4655939"/>
            <a:ext cx="6522125" cy="3005018"/>
          </a:xfrm>
          <a:prstGeom prst="roundRect">
            <a:avLst>
              <a:gd name="adj" fmla="val 2675"/>
            </a:avLst>
          </a:prstGeom>
          <a:solidFill>
            <a:srgbClr val="FFFFFF"/>
          </a:solidFill>
          <a:ln w="22860">
            <a:solidFill>
              <a:srgbClr val="C0C1D7"/>
            </a:solidFill>
            <a:prstDash val="solid"/>
          </a:ln>
        </p:spPr>
      </p:sp>
      <p:sp>
        <p:nvSpPr>
          <p:cNvPr id="19" name="Shape 17"/>
          <p:cNvSpPr/>
          <p:nvPr/>
        </p:nvSpPr>
        <p:spPr>
          <a:xfrm>
            <a:off x="7418665" y="4678799"/>
            <a:ext cx="6476405" cy="574119"/>
          </a:xfrm>
          <a:prstGeom prst="roundRect">
            <a:avLst>
              <a:gd name="adj" fmla="val 9223"/>
            </a:avLst>
          </a:prstGeom>
          <a:solidFill>
            <a:srgbClr val="DADBF1"/>
          </a:solidFill>
          <a:ln/>
        </p:spPr>
      </p:sp>
      <p:sp>
        <p:nvSpPr>
          <p:cNvPr id="20" name="Text 18"/>
          <p:cNvSpPr/>
          <p:nvPr/>
        </p:nvSpPr>
        <p:spPr>
          <a:xfrm>
            <a:off x="10513338" y="4782622"/>
            <a:ext cx="287060" cy="358735"/>
          </a:xfrm>
          <a:prstGeom prst="rect">
            <a:avLst/>
          </a:prstGeom>
          <a:noFill/>
          <a:ln/>
        </p:spPr>
        <p:txBody>
          <a:bodyPr wrap="none" lIns="0" tIns="0" rIns="0" bIns="0" rtlCol="0" anchor="t"/>
          <a:lstStyle/>
          <a:p>
            <a:pPr marL="0" indent="0" algn="l">
              <a:lnSpc>
                <a:spcPts val="2250"/>
              </a:lnSpc>
              <a:buNone/>
            </a:pPr>
            <a:r>
              <a:rPr lang="en-US" sz="2250" b="1" dirty="0">
                <a:solidFill>
                  <a:srgbClr val="272525"/>
                </a:solidFill>
                <a:latin typeface="Inter Bold" pitchFamily="34" charset="0"/>
                <a:ea typeface="Inter Bold" pitchFamily="34" charset="-122"/>
                <a:cs typeface="Inter Bold" pitchFamily="34" charset="-120"/>
              </a:rPr>
              <a:t>4</a:t>
            </a:r>
            <a:endParaRPr lang="en-US" sz="2250" dirty="0"/>
          </a:p>
        </p:txBody>
      </p:sp>
      <p:sp>
        <p:nvSpPr>
          <p:cNvPr id="21" name="Text 19"/>
          <p:cNvSpPr/>
          <p:nvPr/>
        </p:nvSpPr>
        <p:spPr>
          <a:xfrm>
            <a:off x="7609999" y="5414367"/>
            <a:ext cx="2819519" cy="298966"/>
          </a:xfrm>
          <a:prstGeom prst="rect">
            <a:avLst/>
          </a:prstGeom>
          <a:noFill/>
          <a:ln/>
        </p:spPr>
        <p:txBody>
          <a:bodyPr wrap="none" lIns="0" tIns="0" rIns="0" bIns="0" rtlCol="0" anchor="t"/>
          <a:lstStyle/>
          <a:p>
            <a:pPr marL="0" indent="0" algn="l">
              <a:lnSpc>
                <a:spcPts val="2350"/>
              </a:lnSpc>
              <a:buNone/>
            </a:pPr>
            <a:r>
              <a:rPr lang="en-US" sz="1850" b="1" dirty="0">
                <a:solidFill>
                  <a:srgbClr val="272525"/>
                </a:solidFill>
                <a:latin typeface="Inter Bold" pitchFamily="34" charset="0"/>
                <a:ea typeface="Inter Bold" pitchFamily="34" charset="-122"/>
                <a:cs typeface="Inter Bold" pitchFamily="34" charset="-120"/>
              </a:rPr>
              <a:t>Infrastructure &amp; DevOps</a:t>
            </a:r>
            <a:endParaRPr lang="en-US" sz="1850" dirty="0"/>
          </a:p>
        </p:txBody>
      </p:sp>
      <p:sp>
        <p:nvSpPr>
          <p:cNvPr id="22" name="Text 20"/>
          <p:cNvSpPr/>
          <p:nvPr/>
        </p:nvSpPr>
        <p:spPr>
          <a:xfrm>
            <a:off x="7609999" y="5810131"/>
            <a:ext cx="6093738" cy="1636633"/>
          </a:xfrm>
          <a:prstGeom prst="rect">
            <a:avLst/>
          </a:prstGeom>
          <a:noFill/>
          <a:ln/>
        </p:spPr>
        <p:txBody>
          <a:bodyPr wrap="square" lIns="0" tIns="0" rIns="0" bIns="0" rtlCol="0" anchor="t"/>
          <a:lstStyle/>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AWS/GCP for cloud hosting</a:t>
            </a:r>
            <a:endParaRPr lang="en-US" sz="1500" dirty="0"/>
          </a:p>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Docker for containerization</a:t>
            </a:r>
            <a:endParaRPr lang="en-US" sz="1500" dirty="0"/>
          </a:p>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Kubernetes for orchestration</a:t>
            </a:r>
            <a:endParaRPr lang="en-US" sz="1500" dirty="0"/>
          </a:p>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Git/GitHub for version control</a:t>
            </a:r>
            <a:endParaRPr lang="en-US" sz="1500" dirty="0"/>
          </a:p>
          <a:p>
            <a:pPr marL="342900" indent="-342900" algn="l">
              <a:lnSpc>
                <a:spcPts val="2200"/>
              </a:lnSpc>
              <a:buSzPct val="100000"/>
              <a:buChar char="•"/>
            </a:pPr>
            <a:r>
              <a:rPr lang="en-US" sz="1500" dirty="0">
                <a:solidFill>
                  <a:srgbClr val="272525"/>
                </a:solidFill>
                <a:latin typeface="Inter" pitchFamily="34" charset="0"/>
                <a:ea typeface="Inter" pitchFamily="34" charset="-122"/>
                <a:cs typeface="Inter" pitchFamily="34" charset="-120"/>
              </a:rPr>
              <a:t>Jenkins for CI/CD pipelines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4611" y="547926"/>
            <a:ext cx="7093506"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AI Model Generation Prompts</a:t>
            </a:r>
            <a:endParaRPr lang="en-US" sz="3900" dirty="0"/>
          </a:p>
        </p:txBody>
      </p:sp>
      <p:sp>
        <p:nvSpPr>
          <p:cNvPr id="3" name="Shape 1"/>
          <p:cNvSpPr/>
          <p:nvPr/>
        </p:nvSpPr>
        <p:spPr>
          <a:xfrm>
            <a:off x="694611" y="1515308"/>
            <a:ext cx="13241179" cy="1073825"/>
          </a:xfrm>
          <a:prstGeom prst="roundRect">
            <a:avLst>
              <a:gd name="adj" fmla="val 7763"/>
            </a:avLst>
          </a:prstGeom>
          <a:solidFill>
            <a:srgbClr val="B6D6FC"/>
          </a:solidFill>
          <a:ln/>
        </p:spPr>
      </p:sp>
      <p:pic>
        <p:nvPicPr>
          <p:cNvPr id="4" name="Image 0" descr="preencoded.png"/>
          <p:cNvPicPr>
            <a:picLocks noChangeAspect="1"/>
          </p:cNvPicPr>
          <p:nvPr/>
        </p:nvPicPr>
        <p:blipFill>
          <a:blip r:embed="rId3"/>
          <a:stretch>
            <a:fillRect/>
          </a:stretch>
        </p:blipFill>
        <p:spPr>
          <a:xfrm>
            <a:off x="892969" y="1810583"/>
            <a:ext cx="248007" cy="198358"/>
          </a:xfrm>
          <a:prstGeom prst="rect">
            <a:avLst/>
          </a:prstGeom>
        </p:spPr>
      </p:pic>
      <p:sp>
        <p:nvSpPr>
          <p:cNvPr id="5" name="Text 2"/>
          <p:cNvSpPr/>
          <p:nvPr/>
        </p:nvSpPr>
        <p:spPr>
          <a:xfrm>
            <a:off x="1339334" y="1738432"/>
            <a:ext cx="12398097" cy="595313"/>
          </a:xfrm>
          <a:prstGeom prst="rect">
            <a:avLst/>
          </a:prstGeom>
          <a:noFill/>
          <a:ln/>
        </p:spPr>
        <p:txBody>
          <a:bodyPr wrap="square" lIns="0" tIns="0" rIns="0" bIns="0" rtlCol="0" anchor="t"/>
          <a:lstStyle/>
          <a:p>
            <a:pPr marL="0" indent="0" algn="l">
              <a:lnSpc>
                <a:spcPts val="2300"/>
              </a:lnSpc>
              <a:buNone/>
            </a:pPr>
            <a:r>
              <a:rPr lang="en-US" sz="1550" b="1" dirty="0">
                <a:solidFill>
                  <a:srgbClr val="000000"/>
                </a:solidFill>
                <a:latin typeface="Inter" pitchFamily="34" charset="0"/>
                <a:ea typeface="Inter" pitchFamily="34" charset="-122"/>
                <a:cs typeface="Inter" pitchFamily="34" charset="-120"/>
              </a:rPr>
              <a:t>Prompt Design Philosophy:</a:t>
            </a:r>
            <a:r>
              <a:rPr lang="en-US" sz="1550" dirty="0">
                <a:solidFill>
                  <a:srgbClr val="000000"/>
                </a:solidFill>
                <a:latin typeface="Inter" pitchFamily="34" charset="0"/>
                <a:ea typeface="Inter" pitchFamily="34" charset="-122"/>
                <a:cs typeface="Inter" pitchFamily="34" charset="-120"/>
              </a:rPr>
              <a:t> All prompts include explicit constraints, output format specifications, and example-based learning to ensure consistent, production-ready code generation</a:t>
            </a:r>
            <a:endParaRPr lang="en-US" sz="1550" dirty="0"/>
          </a:p>
        </p:txBody>
      </p:sp>
      <p:sp>
        <p:nvSpPr>
          <p:cNvPr id="6" name="Text 3"/>
          <p:cNvSpPr/>
          <p:nvPr/>
        </p:nvSpPr>
        <p:spPr>
          <a:xfrm>
            <a:off x="694611" y="2784396"/>
            <a:ext cx="396835" cy="248007"/>
          </a:xfrm>
          <a:prstGeom prst="rect">
            <a:avLst/>
          </a:prstGeom>
          <a:noFill/>
          <a:ln/>
        </p:spPr>
        <p:txBody>
          <a:bodyPr wrap="none" lIns="0" tIns="0" rIns="0" bIns="0" rtlCol="0" anchor="t"/>
          <a:lstStyle/>
          <a:p>
            <a:pPr marL="0" indent="0" algn="l">
              <a:lnSpc>
                <a:spcPts val="2300"/>
              </a:lnSpc>
              <a:buNone/>
            </a:pPr>
            <a:r>
              <a:rPr lang="en-US" sz="1550" dirty="0">
                <a:solidFill>
                  <a:srgbClr val="272525"/>
                </a:solidFill>
                <a:latin typeface="Inter Light" pitchFamily="34" charset="0"/>
                <a:ea typeface="Inter Light" pitchFamily="34" charset="-122"/>
                <a:cs typeface="Inter Light" pitchFamily="34" charset="-120"/>
              </a:rPr>
              <a:t>01</a:t>
            </a:r>
            <a:endParaRPr lang="en-US" sz="1550" dirty="0"/>
          </a:p>
        </p:txBody>
      </p:sp>
      <p:sp>
        <p:nvSpPr>
          <p:cNvPr id="7" name="Shape 4"/>
          <p:cNvSpPr/>
          <p:nvPr/>
        </p:nvSpPr>
        <p:spPr>
          <a:xfrm>
            <a:off x="694611" y="3098721"/>
            <a:ext cx="6533793" cy="22860"/>
          </a:xfrm>
          <a:prstGeom prst="rect">
            <a:avLst/>
          </a:prstGeom>
          <a:solidFill>
            <a:srgbClr val="4950BC"/>
          </a:solidFill>
          <a:ln/>
        </p:spPr>
      </p:sp>
      <p:sp>
        <p:nvSpPr>
          <p:cNvPr id="8" name="Text 5"/>
          <p:cNvSpPr/>
          <p:nvPr/>
        </p:nvSpPr>
        <p:spPr>
          <a:xfrm>
            <a:off x="694611" y="3243620"/>
            <a:ext cx="3028236"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Image Verification Model</a:t>
            </a:r>
            <a:endParaRPr lang="en-US" sz="1950" dirty="0"/>
          </a:p>
        </p:txBody>
      </p:sp>
      <p:sp>
        <p:nvSpPr>
          <p:cNvPr id="9" name="Text 6"/>
          <p:cNvSpPr/>
          <p:nvPr/>
        </p:nvSpPr>
        <p:spPr>
          <a:xfrm>
            <a:off x="694611" y="3657957"/>
            <a:ext cx="6533793" cy="1488281"/>
          </a:xfrm>
          <a:prstGeom prst="rect">
            <a:avLst/>
          </a:prstGeom>
          <a:noFill/>
          <a:ln/>
        </p:spPr>
        <p:txBody>
          <a:bodyPr wrap="square" lIns="0" tIns="0" rIns="0" bIns="0" rtlCol="0" anchor="t"/>
          <a:lstStyle/>
          <a:p>
            <a:pPr marL="0" indent="0" algn="l">
              <a:lnSpc>
                <a:spcPts val="2300"/>
              </a:lnSpc>
              <a:buNone/>
            </a:pPr>
            <a:r>
              <a:rPr lang="en-US" sz="1550" dirty="0">
                <a:solidFill>
                  <a:srgbClr val="272525"/>
                </a:solidFill>
                <a:latin typeface="Inter" pitchFamily="34" charset="0"/>
                <a:ea typeface="Inter" pitchFamily="34" charset="-122"/>
                <a:cs typeface="Inter" pitchFamily="34" charset="-120"/>
              </a:rPr>
              <a:t>"Create a convolutional neural network using TensorFlow that analyzes image metadata, detects compression artifacts, and identifies AI-generated content. Include data preprocessing pipeline, model architecture with dropout layers, and evaluation metrics. Output Keras model code with comments."</a:t>
            </a:r>
            <a:endParaRPr lang="en-US" sz="1550" dirty="0"/>
          </a:p>
        </p:txBody>
      </p:sp>
      <p:sp>
        <p:nvSpPr>
          <p:cNvPr id="10" name="Text 7"/>
          <p:cNvSpPr/>
          <p:nvPr/>
        </p:nvSpPr>
        <p:spPr>
          <a:xfrm>
            <a:off x="7401997" y="2784396"/>
            <a:ext cx="396835" cy="248007"/>
          </a:xfrm>
          <a:prstGeom prst="rect">
            <a:avLst/>
          </a:prstGeom>
          <a:noFill/>
          <a:ln/>
        </p:spPr>
        <p:txBody>
          <a:bodyPr wrap="none" lIns="0" tIns="0" rIns="0" bIns="0" rtlCol="0" anchor="t"/>
          <a:lstStyle/>
          <a:p>
            <a:pPr marL="0" indent="0" algn="l">
              <a:lnSpc>
                <a:spcPts val="2300"/>
              </a:lnSpc>
              <a:buNone/>
            </a:pPr>
            <a:r>
              <a:rPr lang="en-US" sz="1550" dirty="0">
                <a:solidFill>
                  <a:srgbClr val="272525"/>
                </a:solidFill>
                <a:latin typeface="Inter Light" pitchFamily="34" charset="0"/>
                <a:ea typeface="Inter Light" pitchFamily="34" charset="-122"/>
                <a:cs typeface="Inter Light" pitchFamily="34" charset="-120"/>
              </a:rPr>
              <a:t>02</a:t>
            </a:r>
            <a:endParaRPr lang="en-US" sz="1550" dirty="0"/>
          </a:p>
        </p:txBody>
      </p:sp>
      <p:sp>
        <p:nvSpPr>
          <p:cNvPr id="11" name="Shape 8"/>
          <p:cNvSpPr/>
          <p:nvPr/>
        </p:nvSpPr>
        <p:spPr>
          <a:xfrm>
            <a:off x="7401997" y="3098721"/>
            <a:ext cx="6533793" cy="22860"/>
          </a:xfrm>
          <a:prstGeom prst="rect">
            <a:avLst/>
          </a:prstGeom>
          <a:solidFill>
            <a:srgbClr val="4950BC"/>
          </a:solidFill>
          <a:ln/>
        </p:spPr>
      </p:sp>
      <p:sp>
        <p:nvSpPr>
          <p:cNvPr id="12" name="Text 9"/>
          <p:cNvSpPr/>
          <p:nvPr/>
        </p:nvSpPr>
        <p:spPr>
          <a:xfrm>
            <a:off x="7401997" y="3243620"/>
            <a:ext cx="3548182"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Audio Authentication System</a:t>
            </a:r>
            <a:endParaRPr lang="en-US" sz="1950" dirty="0"/>
          </a:p>
        </p:txBody>
      </p:sp>
      <p:sp>
        <p:nvSpPr>
          <p:cNvPr id="13" name="Text 10"/>
          <p:cNvSpPr/>
          <p:nvPr/>
        </p:nvSpPr>
        <p:spPr>
          <a:xfrm>
            <a:off x="7401997" y="3657957"/>
            <a:ext cx="6533793" cy="1488281"/>
          </a:xfrm>
          <a:prstGeom prst="rect">
            <a:avLst/>
          </a:prstGeom>
          <a:noFill/>
          <a:ln/>
        </p:spPr>
        <p:txBody>
          <a:bodyPr wrap="square" lIns="0" tIns="0" rIns="0" bIns="0" rtlCol="0" anchor="t"/>
          <a:lstStyle/>
          <a:p>
            <a:pPr marL="0" indent="0" algn="l">
              <a:lnSpc>
                <a:spcPts val="2300"/>
              </a:lnSpc>
              <a:buNone/>
            </a:pPr>
            <a:r>
              <a:rPr lang="en-US" sz="1550" dirty="0">
                <a:solidFill>
                  <a:srgbClr val="272525"/>
                </a:solidFill>
                <a:latin typeface="Inter" pitchFamily="34" charset="0"/>
                <a:ea typeface="Inter" pitchFamily="34" charset="-122"/>
                <a:cs typeface="Inter" pitchFamily="34" charset="-120"/>
              </a:rPr>
              <a:t>"Develop a deep learning model that processes audio waveforms to detect synthetic voices and voice cloning. Use LSTM networks with attention mechanisms. Include feature extraction functions for MFCC coefficients and spectral analysis. Provide training loop with validation."</a:t>
            </a:r>
            <a:endParaRPr lang="en-US" sz="1550" dirty="0"/>
          </a:p>
        </p:txBody>
      </p:sp>
      <p:sp>
        <p:nvSpPr>
          <p:cNvPr id="14" name="Text 11"/>
          <p:cNvSpPr/>
          <p:nvPr/>
        </p:nvSpPr>
        <p:spPr>
          <a:xfrm>
            <a:off x="694611" y="5468660"/>
            <a:ext cx="396835" cy="248007"/>
          </a:xfrm>
          <a:prstGeom prst="rect">
            <a:avLst/>
          </a:prstGeom>
          <a:noFill/>
          <a:ln/>
        </p:spPr>
        <p:txBody>
          <a:bodyPr wrap="none" lIns="0" tIns="0" rIns="0" bIns="0" rtlCol="0" anchor="t"/>
          <a:lstStyle/>
          <a:p>
            <a:pPr marL="0" indent="0" algn="l">
              <a:lnSpc>
                <a:spcPts val="2300"/>
              </a:lnSpc>
              <a:buNone/>
            </a:pPr>
            <a:r>
              <a:rPr lang="en-US" sz="1550" dirty="0">
                <a:solidFill>
                  <a:srgbClr val="272525"/>
                </a:solidFill>
                <a:latin typeface="Inter Light" pitchFamily="34" charset="0"/>
                <a:ea typeface="Inter Light" pitchFamily="34" charset="-122"/>
                <a:cs typeface="Inter Light" pitchFamily="34" charset="-120"/>
              </a:rPr>
              <a:t>03</a:t>
            </a:r>
            <a:endParaRPr lang="en-US" sz="1550" dirty="0"/>
          </a:p>
        </p:txBody>
      </p:sp>
      <p:sp>
        <p:nvSpPr>
          <p:cNvPr id="15" name="Shape 12"/>
          <p:cNvSpPr/>
          <p:nvPr/>
        </p:nvSpPr>
        <p:spPr>
          <a:xfrm>
            <a:off x="694611" y="5782985"/>
            <a:ext cx="6533793" cy="22860"/>
          </a:xfrm>
          <a:prstGeom prst="rect">
            <a:avLst/>
          </a:prstGeom>
          <a:solidFill>
            <a:srgbClr val="4950BC"/>
          </a:solidFill>
          <a:ln/>
        </p:spPr>
      </p:sp>
      <p:sp>
        <p:nvSpPr>
          <p:cNvPr id="16" name="Text 13"/>
          <p:cNvSpPr/>
          <p:nvPr/>
        </p:nvSpPr>
        <p:spPr>
          <a:xfrm>
            <a:off x="694611" y="5927884"/>
            <a:ext cx="2842260"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Video Analysis Pipeline</a:t>
            </a:r>
            <a:endParaRPr lang="en-US" sz="1950" dirty="0"/>
          </a:p>
        </p:txBody>
      </p:sp>
      <p:sp>
        <p:nvSpPr>
          <p:cNvPr id="17" name="Text 14"/>
          <p:cNvSpPr/>
          <p:nvPr/>
        </p:nvSpPr>
        <p:spPr>
          <a:xfrm>
            <a:off x="694611" y="6342221"/>
            <a:ext cx="6533793" cy="1190625"/>
          </a:xfrm>
          <a:prstGeom prst="rect">
            <a:avLst/>
          </a:prstGeom>
          <a:noFill/>
          <a:ln/>
        </p:spPr>
        <p:txBody>
          <a:bodyPr wrap="square" lIns="0" tIns="0" rIns="0" bIns="0" rtlCol="0" anchor="t"/>
          <a:lstStyle/>
          <a:p>
            <a:pPr marL="0" indent="0" algn="l">
              <a:lnSpc>
                <a:spcPts val="2300"/>
              </a:lnSpc>
              <a:buNone/>
            </a:pPr>
            <a:r>
              <a:rPr lang="en-US" sz="1550" dirty="0">
                <a:solidFill>
                  <a:srgbClr val="272525"/>
                </a:solidFill>
                <a:latin typeface="Inter" pitchFamily="34" charset="0"/>
                <a:ea typeface="Inter" pitchFamily="34" charset="-122"/>
                <a:cs typeface="Inter" pitchFamily="34" charset="-120"/>
              </a:rPr>
              <a:t>"Build a video processing system that extracts frames, analyzes temporal consistency, and detects deepfake artifacts. Implement using PyTorch with 3D CNN architecture. Include frame sampling logic, motion analysis, and lip-sync verification modules."</a:t>
            </a:r>
            <a:endParaRPr lang="en-US" sz="1550" dirty="0"/>
          </a:p>
        </p:txBody>
      </p:sp>
      <p:sp>
        <p:nvSpPr>
          <p:cNvPr id="18" name="Text 15"/>
          <p:cNvSpPr/>
          <p:nvPr/>
        </p:nvSpPr>
        <p:spPr>
          <a:xfrm>
            <a:off x="7401997" y="5468660"/>
            <a:ext cx="396835" cy="248007"/>
          </a:xfrm>
          <a:prstGeom prst="rect">
            <a:avLst/>
          </a:prstGeom>
          <a:noFill/>
          <a:ln/>
        </p:spPr>
        <p:txBody>
          <a:bodyPr wrap="none" lIns="0" tIns="0" rIns="0" bIns="0" rtlCol="0" anchor="t"/>
          <a:lstStyle/>
          <a:p>
            <a:pPr marL="0" indent="0" algn="l">
              <a:lnSpc>
                <a:spcPts val="2300"/>
              </a:lnSpc>
              <a:buNone/>
            </a:pPr>
            <a:r>
              <a:rPr lang="en-US" sz="1550" dirty="0">
                <a:solidFill>
                  <a:srgbClr val="272525"/>
                </a:solidFill>
                <a:latin typeface="Inter Light" pitchFamily="34" charset="0"/>
                <a:ea typeface="Inter Light" pitchFamily="34" charset="-122"/>
                <a:cs typeface="Inter Light" pitchFamily="34" charset="-120"/>
              </a:rPr>
              <a:t>04</a:t>
            </a:r>
            <a:endParaRPr lang="en-US" sz="1550" dirty="0"/>
          </a:p>
        </p:txBody>
      </p:sp>
      <p:sp>
        <p:nvSpPr>
          <p:cNvPr id="19" name="Shape 16"/>
          <p:cNvSpPr/>
          <p:nvPr/>
        </p:nvSpPr>
        <p:spPr>
          <a:xfrm>
            <a:off x="7401997" y="5782985"/>
            <a:ext cx="6533793" cy="22860"/>
          </a:xfrm>
          <a:prstGeom prst="rect">
            <a:avLst/>
          </a:prstGeom>
          <a:solidFill>
            <a:srgbClr val="4950BC"/>
          </a:solidFill>
          <a:ln/>
        </p:spPr>
      </p:sp>
      <p:sp>
        <p:nvSpPr>
          <p:cNvPr id="20" name="Text 17"/>
          <p:cNvSpPr/>
          <p:nvPr/>
        </p:nvSpPr>
        <p:spPr>
          <a:xfrm>
            <a:off x="7401997" y="5927884"/>
            <a:ext cx="325814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NLP Content Authenticator</a:t>
            </a:r>
            <a:endParaRPr lang="en-US" sz="1950" dirty="0"/>
          </a:p>
        </p:txBody>
      </p:sp>
      <p:sp>
        <p:nvSpPr>
          <p:cNvPr id="21" name="Text 18"/>
          <p:cNvSpPr/>
          <p:nvPr/>
        </p:nvSpPr>
        <p:spPr>
          <a:xfrm>
            <a:off x="7401997" y="6342221"/>
            <a:ext cx="6533793" cy="1190625"/>
          </a:xfrm>
          <a:prstGeom prst="rect">
            <a:avLst/>
          </a:prstGeom>
          <a:noFill/>
          <a:ln/>
        </p:spPr>
        <p:txBody>
          <a:bodyPr wrap="square" lIns="0" tIns="0" rIns="0" bIns="0" rtlCol="0" anchor="t"/>
          <a:lstStyle/>
          <a:p>
            <a:pPr marL="0" indent="0" algn="l">
              <a:lnSpc>
                <a:spcPts val="2300"/>
              </a:lnSpc>
              <a:buNone/>
            </a:pPr>
            <a:r>
              <a:rPr lang="en-US" sz="1550" dirty="0">
                <a:solidFill>
                  <a:srgbClr val="272525"/>
                </a:solidFill>
                <a:latin typeface="Inter" pitchFamily="34" charset="0"/>
                <a:ea typeface="Inter" pitchFamily="34" charset="-122"/>
                <a:cs typeface="Inter" pitchFamily="34" charset="-120"/>
              </a:rPr>
              <a:t>"Create a transformer-based model using BERT architecture that identifies AI-generated text patterns and writing styles. Include fine-tuning procedure with labeled dataset, text preprocessing functions, and confidence scoring mechanism."</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446014" y="515064"/>
            <a:ext cx="6501408" cy="531614"/>
          </a:xfrm>
          <a:prstGeom prst="rect">
            <a:avLst/>
          </a:prstGeom>
          <a:noFill/>
          <a:ln/>
        </p:spPr>
        <p:txBody>
          <a:bodyPr wrap="none" lIns="0" tIns="0" rIns="0" bIns="0" rtlCol="0" anchor="t"/>
          <a:lstStyle/>
          <a:p>
            <a:pPr marL="0" indent="0" algn="l">
              <a:lnSpc>
                <a:spcPts val="4150"/>
              </a:lnSpc>
              <a:buNone/>
            </a:pPr>
            <a:r>
              <a:rPr lang="en-US" sz="3300" b="1" dirty="0">
                <a:solidFill>
                  <a:srgbClr val="000000"/>
                </a:solidFill>
                <a:latin typeface="Inter Bold" pitchFamily="34" charset="0"/>
                <a:ea typeface="Inter Bold" pitchFamily="34" charset="-122"/>
                <a:cs typeface="Inter Bold" pitchFamily="34" charset="-120"/>
              </a:rPr>
              <a:t>Blockchain Integration Prompts</a:t>
            </a:r>
            <a:endParaRPr lang="en-US" sz="3300" dirty="0"/>
          </a:p>
        </p:txBody>
      </p:sp>
      <p:sp>
        <p:nvSpPr>
          <p:cNvPr id="3" name="Text 1"/>
          <p:cNvSpPr/>
          <p:nvPr/>
        </p:nvSpPr>
        <p:spPr>
          <a:xfrm>
            <a:off x="1446014" y="3153847"/>
            <a:ext cx="3012400" cy="265747"/>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Smart Contract Development</a:t>
            </a:r>
            <a:endParaRPr lang="en-US" sz="1650" dirty="0"/>
          </a:p>
        </p:txBody>
      </p:sp>
      <p:sp>
        <p:nvSpPr>
          <p:cNvPr id="4" name="Text 2"/>
          <p:cNvSpPr/>
          <p:nvPr/>
        </p:nvSpPr>
        <p:spPr>
          <a:xfrm>
            <a:off x="1701165" y="3563064"/>
            <a:ext cx="6621780" cy="952500"/>
          </a:xfrm>
          <a:prstGeom prst="rect">
            <a:avLst/>
          </a:prstGeom>
          <a:noFill/>
          <a:ln/>
        </p:spPr>
        <p:txBody>
          <a:bodyPr wrap="squar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"Write a Solidity smart contract for Ethereum that stores content hashes with verification timestamps and content metadata. Include functions for hash registration, retrieval by content ID, and verification status queries. Implement access control modifiers and event emitters for state changes."</a:t>
            </a:r>
            <a:endParaRPr lang="en-US" sz="1300" dirty="0"/>
          </a:p>
        </p:txBody>
      </p:sp>
      <p:sp>
        <p:nvSpPr>
          <p:cNvPr id="5" name="Shape 3"/>
          <p:cNvSpPr/>
          <p:nvPr/>
        </p:nvSpPr>
        <p:spPr>
          <a:xfrm>
            <a:off x="1446014" y="3563064"/>
            <a:ext cx="22860" cy="952500"/>
          </a:xfrm>
          <a:prstGeom prst="rect">
            <a:avLst/>
          </a:prstGeom>
          <a:solidFill>
            <a:srgbClr val="4950BC"/>
          </a:solidFill>
          <a:ln/>
        </p:spPr>
      </p:sp>
      <p:sp>
        <p:nvSpPr>
          <p:cNvPr id="6" name="Text 4"/>
          <p:cNvSpPr/>
          <p:nvPr/>
        </p:nvSpPr>
        <p:spPr>
          <a:xfrm>
            <a:off x="1446014" y="4659035"/>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IPFS Integration</a:t>
            </a:r>
            <a:endParaRPr lang="en-US" sz="1650" dirty="0"/>
          </a:p>
        </p:txBody>
      </p:sp>
      <p:sp>
        <p:nvSpPr>
          <p:cNvPr id="7" name="Text 5"/>
          <p:cNvSpPr/>
          <p:nvPr/>
        </p:nvSpPr>
        <p:spPr>
          <a:xfrm>
            <a:off x="1701165" y="5068252"/>
            <a:ext cx="6621780" cy="714375"/>
          </a:xfrm>
          <a:prstGeom prst="rect">
            <a:avLst/>
          </a:prstGeom>
          <a:noFill/>
          <a:ln/>
        </p:spPr>
        <p:txBody>
          <a:bodyPr wrap="squar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"Create Node.js functions that upload content metadata to IPFS decentralized storage and return content identifiers. Include error handling for network failures, content pinning logic, and metadata schema validation."</a:t>
            </a:r>
            <a:endParaRPr lang="en-US" sz="1300" dirty="0"/>
          </a:p>
        </p:txBody>
      </p:sp>
      <p:sp>
        <p:nvSpPr>
          <p:cNvPr id="8" name="Shape 6"/>
          <p:cNvSpPr/>
          <p:nvPr/>
        </p:nvSpPr>
        <p:spPr>
          <a:xfrm>
            <a:off x="1446014" y="5068252"/>
            <a:ext cx="22860" cy="714375"/>
          </a:xfrm>
          <a:prstGeom prst="rect">
            <a:avLst/>
          </a:prstGeom>
          <a:solidFill>
            <a:srgbClr val="4950BC"/>
          </a:solidFill>
          <a:ln/>
        </p:spPr>
      </p:sp>
      <p:pic>
        <p:nvPicPr>
          <p:cNvPr id="9" name="Image 0" descr="preencoded.png"/>
          <p:cNvPicPr>
            <a:picLocks noChangeAspect="1"/>
          </p:cNvPicPr>
          <p:nvPr/>
        </p:nvPicPr>
        <p:blipFill>
          <a:blip r:embed="rId3"/>
          <a:stretch>
            <a:fillRect/>
          </a:stretch>
        </p:blipFill>
        <p:spPr>
          <a:xfrm>
            <a:off x="8745617" y="1381482"/>
            <a:ext cx="4446270" cy="4446270"/>
          </a:xfrm>
          <a:prstGeom prst="rect">
            <a:avLst/>
          </a:prstGeom>
        </p:spPr>
      </p:pic>
      <p:sp>
        <p:nvSpPr>
          <p:cNvPr id="10" name="Text 7"/>
          <p:cNvSpPr/>
          <p:nvPr/>
        </p:nvSpPr>
        <p:spPr>
          <a:xfrm>
            <a:off x="8745617" y="5971223"/>
            <a:ext cx="2126456" cy="265747"/>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Web3 Interface</a:t>
            </a:r>
            <a:endParaRPr lang="en-US" sz="1650" dirty="0"/>
          </a:p>
        </p:txBody>
      </p:sp>
      <p:sp>
        <p:nvSpPr>
          <p:cNvPr id="11" name="Text 8"/>
          <p:cNvSpPr/>
          <p:nvPr/>
        </p:nvSpPr>
        <p:spPr>
          <a:xfrm>
            <a:off x="9000768" y="6380440"/>
            <a:ext cx="4191119" cy="1190625"/>
          </a:xfrm>
          <a:prstGeom prst="rect">
            <a:avLst/>
          </a:prstGeom>
          <a:noFill/>
          <a:ln/>
        </p:spPr>
        <p:txBody>
          <a:bodyPr wrap="square" lIns="0" tIns="0" rIns="0" bIns="0" rtlCol="0" anchor="t"/>
          <a:lstStyle/>
          <a:p>
            <a:pPr marL="0" indent="0" algn="l">
              <a:lnSpc>
                <a:spcPts val="1850"/>
              </a:lnSpc>
              <a:buNone/>
            </a:pPr>
            <a:r>
              <a:rPr lang="en-US" sz="1300" dirty="0">
                <a:solidFill>
                  <a:srgbClr val="272525"/>
                </a:solidFill>
                <a:latin typeface="Inter" pitchFamily="34" charset="0"/>
                <a:ea typeface="Inter" pitchFamily="34" charset="-122"/>
                <a:cs typeface="Inter" pitchFamily="34" charset="-120"/>
              </a:rPr>
              <a:t>"Develop JavaScript client using Web3.js library that connects to Ethereum node, signs transactions with user wallets, and interacts with verification smart contract. Include connection pooling and rate limiting."</a:t>
            </a:r>
            <a:endParaRPr lang="en-US" sz="1300" dirty="0"/>
          </a:p>
        </p:txBody>
      </p:sp>
      <p:sp>
        <p:nvSpPr>
          <p:cNvPr id="12" name="Shape 9"/>
          <p:cNvSpPr/>
          <p:nvPr/>
        </p:nvSpPr>
        <p:spPr>
          <a:xfrm>
            <a:off x="8745617" y="6380440"/>
            <a:ext cx="22860" cy="1190625"/>
          </a:xfrm>
          <a:prstGeom prst="rect">
            <a:avLst/>
          </a:prstGeom>
          <a:solidFill>
            <a:srgbClr val="4950BC"/>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716637"/>
            <a:ext cx="8503087"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System Workflow Architecture</a:t>
            </a:r>
            <a:endParaRPr lang="en-US" sz="4450" dirty="0"/>
          </a:p>
        </p:txBody>
      </p:sp>
      <p:pic>
        <p:nvPicPr>
          <p:cNvPr id="3" name="Image 0" descr="preencoded.png"/>
          <p:cNvPicPr>
            <a:picLocks noChangeAspect="1"/>
          </p:cNvPicPr>
          <p:nvPr/>
        </p:nvPicPr>
        <p:blipFill>
          <a:blip r:embed="rId3"/>
          <a:stretch>
            <a:fillRect/>
          </a:stretch>
        </p:blipFill>
        <p:spPr>
          <a:xfrm>
            <a:off x="793790" y="1879044"/>
            <a:ext cx="13042821" cy="5633799"/>
          </a:xfrm>
          <a:prstGeom prst="rect">
            <a:avLst/>
          </a:prstGeom>
        </p:spPr>
      </p:pic>
      <p:sp>
        <p:nvSpPr>
          <p:cNvPr id="4" name="Text 1"/>
          <p:cNvSpPr/>
          <p:nvPr/>
        </p:nvSpPr>
        <p:spPr>
          <a:xfrm>
            <a:off x="3906126" y="5984962"/>
            <a:ext cx="1936635" cy="352721"/>
          </a:xfrm>
          <a:prstGeom prst="rect">
            <a:avLst/>
          </a:prstGeom>
          <a:noFill/>
          <a:ln/>
        </p:spPr>
        <p:txBody>
          <a:bodyPr wrap="none" lIns="0" tIns="0" rIns="0" bIns="0" rtlCol="0" anchor="t"/>
          <a:lstStyle/>
          <a:p>
            <a:pPr marL="0" indent="0" algn="ctr">
              <a:lnSpc>
                <a:spcPts val="2750"/>
              </a:lnSpc>
              <a:buNone/>
            </a:pPr>
            <a:r>
              <a:rPr lang="en-US" sz="2200" b="1" dirty="0">
                <a:solidFill>
                  <a:srgbClr val="272525"/>
                </a:solidFill>
                <a:latin typeface="Inter Bold" pitchFamily="34" charset="0"/>
                <a:ea typeface="Inter Bold" pitchFamily="34" charset="-122"/>
                <a:cs typeface="Inter Bold" pitchFamily="34" charset="-120"/>
              </a:rPr>
              <a:t>AI Processing</a:t>
            </a:r>
            <a:endParaRPr lang="en-US" sz="2200" dirty="0"/>
          </a:p>
        </p:txBody>
      </p:sp>
      <p:sp>
        <p:nvSpPr>
          <p:cNvPr id="5" name="Text 2"/>
          <p:cNvSpPr/>
          <p:nvPr/>
        </p:nvSpPr>
        <p:spPr>
          <a:xfrm>
            <a:off x="3906126" y="6438013"/>
            <a:ext cx="1936635" cy="564354"/>
          </a:xfrm>
          <a:prstGeom prst="rect">
            <a:avLst/>
          </a:prstGeom>
          <a:noFill/>
          <a:ln/>
        </p:spPr>
        <p:txBody>
          <a:bodyPr wrap="square" lIns="0" tIns="0" rIns="0" bIns="0" rtlCol="0" anchor="t"/>
          <a:lstStyle/>
          <a:p>
            <a:pPr marL="0" indent="0" algn="ctr">
              <a:lnSpc>
                <a:spcPts val="2200"/>
              </a:lnSpc>
              <a:buNone/>
            </a:pPr>
            <a:r>
              <a:rPr lang="en-US" sz="1750" dirty="0">
                <a:solidFill>
                  <a:srgbClr val="272525"/>
                </a:solidFill>
                <a:latin typeface="Inter" pitchFamily="34" charset="0"/>
                <a:ea typeface="Inter" pitchFamily="34" charset="-122"/>
                <a:cs typeface="Inter" pitchFamily="34" charset="-120"/>
              </a:rPr>
              <a:t>Multiple analysis modules run</a:t>
            </a:r>
            <a:endParaRPr lang="en-US" sz="1750" dirty="0"/>
          </a:p>
        </p:txBody>
      </p:sp>
      <p:sp>
        <p:nvSpPr>
          <p:cNvPr id="6" name="Text 3"/>
          <p:cNvSpPr/>
          <p:nvPr/>
        </p:nvSpPr>
        <p:spPr>
          <a:xfrm>
            <a:off x="8878905" y="5632241"/>
            <a:ext cx="1936635" cy="705443"/>
          </a:xfrm>
          <a:prstGeom prst="rect">
            <a:avLst/>
          </a:prstGeom>
          <a:noFill/>
          <a:ln/>
        </p:spPr>
        <p:txBody>
          <a:bodyPr wrap="square" lIns="0" tIns="0" rIns="0" bIns="0" rtlCol="0" anchor="t"/>
          <a:lstStyle/>
          <a:p>
            <a:pPr marL="0" indent="0" algn="ctr">
              <a:lnSpc>
                <a:spcPts val="2750"/>
              </a:lnSpc>
              <a:buNone/>
            </a:pPr>
            <a:r>
              <a:rPr lang="en-US" sz="2200" b="1" dirty="0">
                <a:solidFill>
                  <a:srgbClr val="000000"/>
                </a:solidFill>
                <a:latin typeface="Inter Bold" pitchFamily="34" charset="0"/>
                <a:ea typeface="Inter Bold" pitchFamily="34" charset="-122"/>
                <a:cs typeface="Inter Bold" pitchFamily="34" charset="-120"/>
              </a:rPr>
              <a:t>Blockchain Storage</a:t>
            </a:r>
            <a:endParaRPr lang="en-US" sz="2200" dirty="0"/>
          </a:p>
        </p:txBody>
      </p:sp>
      <p:sp>
        <p:nvSpPr>
          <p:cNvPr id="7" name="Text 4"/>
          <p:cNvSpPr/>
          <p:nvPr/>
        </p:nvSpPr>
        <p:spPr>
          <a:xfrm>
            <a:off x="8878905" y="6438013"/>
            <a:ext cx="1936635" cy="564354"/>
          </a:xfrm>
          <a:prstGeom prst="rect">
            <a:avLst/>
          </a:prstGeom>
          <a:noFill/>
          <a:ln/>
        </p:spPr>
        <p:txBody>
          <a:bodyPr wrap="square" lIns="0" tIns="0" rIns="0" bIns="0" rtlCol="0" anchor="t"/>
          <a:lstStyle/>
          <a:p>
            <a:pPr marL="0" indent="0" algn="ctr">
              <a:lnSpc>
                <a:spcPts val="2200"/>
              </a:lnSpc>
              <a:buNone/>
            </a:pPr>
            <a:r>
              <a:rPr lang="en-US" sz="1750" dirty="0">
                <a:solidFill>
                  <a:srgbClr val="272525"/>
                </a:solidFill>
                <a:latin typeface="Inter" pitchFamily="34" charset="0"/>
                <a:ea typeface="Inter" pitchFamily="34" charset="-122"/>
                <a:cs typeface="Inter" pitchFamily="34" charset="-120"/>
              </a:rPr>
              <a:t>Save record to distributed ledger</a:t>
            </a:r>
            <a:endParaRPr lang="en-US" sz="1750" dirty="0"/>
          </a:p>
        </p:txBody>
      </p:sp>
      <p:sp>
        <p:nvSpPr>
          <p:cNvPr id="8" name="Text 5"/>
          <p:cNvSpPr/>
          <p:nvPr/>
        </p:nvSpPr>
        <p:spPr>
          <a:xfrm>
            <a:off x="1425908" y="2387403"/>
            <a:ext cx="1936635" cy="705442"/>
          </a:xfrm>
          <a:prstGeom prst="rect">
            <a:avLst/>
          </a:prstGeom>
          <a:noFill/>
          <a:ln/>
        </p:spPr>
        <p:txBody>
          <a:bodyPr wrap="square" lIns="0" tIns="0" rIns="0" bIns="0" rtlCol="0" anchor="t"/>
          <a:lstStyle/>
          <a:p>
            <a:pPr marL="0" indent="0" algn="ctr">
              <a:lnSpc>
                <a:spcPts val="2750"/>
              </a:lnSpc>
              <a:buNone/>
            </a:pPr>
            <a:r>
              <a:rPr lang="en-US" sz="2200" b="1" dirty="0">
                <a:solidFill>
                  <a:srgbClr val="272525"/>
                </a:solidFill>
                <a:latin typeface="Inter Bold" pitchFamily="34" charset="0"/>
                <a:ea typeface="Inter Bold" pitchFamily="34" charset="-122"/>
                <a:cs typeface="Inter Bold" pitchFamily="34" charset="-120"/>
              </a:rPr>
              <a:t>Content Upload</a:t>
            </a:r>
            <a:endParaRPr lang="en-US" sz="2200" dirty="0"/>
          </a:p>
        </p:txBody>
      </p:sp>
      <p:sp>
        <p:nvSpPr>
          <p:cNvPr id="9" name="Text 6"/>
          <p:cNvSpPr/>
          <p:nvPr/>
        </p:nvSpPr>
        <p:spPr>
          <a:xfrm>
            <a:off x="1425908" y="3193174"/>
            <a:ext cx="1936635" cy="564354"/>
          </a:xfrm>
          <a:prstGeom prst="rect">
            <a:avLst/>
          </a:prstGeom>
          <a:noFill/>
          <a:ln/>
        </p:spPr>
        <p:txBody>
          <a:bodyPr wrap="square" lIns="0" tIns="0" rIns="0" bIns="0" rtlCol="0" anchor="t"/>
          <a:lstStyle/>
          <a:p>
            <a:pPr marL="0" indent="0" algn="ctr">
              <a:lnSpc>
                <a:spcPts val="2200"/>
              </a:lnSpc>
              <a:buNone/>
            </a:pPr>
            <a:r>
              <a:rPr lang="en-US" sz="1750" dirty="0">
                <a:solidFill>
                  <a:srgbClr val="272525"/>
                </a:solidFill>
                <a:latin typeface="Inter" pitchFamily="34" charset="0"/>
                <a:ea typeface="Inter" pitchFamily="34" charset="-122"/>
                <a:cs typeface="Inter" pitchFamily="34" charset="-120"/>
              </a:rPr>
              <a:t>User submits file for processing</a:t>
            </a:r>
            <a:endParaRPr lang="en-US" sz="1750" dirty="0"/>
          </a:p>
        </p:txBody>
      </p:sp>
      <p:sp>
        <p:nvSpPr>
          <p:cNvPr id="10" name="Text 7"/>
          <p:cNvSpPr/>
          <p:nvPr/>
        </p:nvSpPr>
        <p:spPr>
          <a:xfrm>
            <a:off x="11285247" y="2387403"/>
            <a:ext cx="1936635" cy="705442"/>
          </a:xfrm>
          <a:prstGeom prst="rect">
            <a:avLst/>
          </a:prstGeom>
          <a:noFill/>
          <a:ln/>
        </p:spPr>
        <p:txBody>
          <a:bodyPr wrap="square" lIns="0" tIns="0" rIns="0" bIns="0" rtlCol="0" anchor="t"/>
          <a:lstStyle/>
          <a:p>
            <a:pPr marL="0" indent="0" algn="ctr">
              <a:lnSpc>
                <a:spcPts val="2750"/>
              </a:lnSpc>
              <a:buNone/>
            </a:pPr>
            <a:r>
              <a:rPr lang="en-US" sz="2200" b="1" dirty="0">
                <a:solidFill>
                  <a:srgbClr val="272525"/>
                </a:solidFill>
                <a:latin typeface="Inter Bold" pitchFamily="34" charset="0"/>
                <a:ea typeface="Inter Bold" pitchFamily="34" charset="-122"/>
                <a:cs typeface="Inter Bold" pitchFamily="34" charset="-120"/>
              </a:rPr>
              <a:t>Verification Result</a:t>
            </a:r>
            <a:endParaRPr lang="en-US" sz="2200" dirty="0"/>
          </a:p>
        </p:txBody>
      </p:sp>
      <p:sp>
        <p:nvSpPr>
          <p:cNvPr id="11" name="Text 8"/>
          <p:cNvSpPr/>
          <p:nvPr/>
        </p:nvSpPr>
        <p:spPr>
          <a:xfrm>
            <a:off x="11285247" y="3193174"/>
            <a:ext cx="1936635" cy="846531"/>
          </a:xfrm>
          <a:prstGeom prst="rect">
            <a:avLst/>
          </a:prstGeom>
          <a:noFill/>
          <a:ln/>
        </p:spPr>
        <p:txBody>
          <a:bodyPr wrap="square" lIns="0" tIns="0" rIns="0" bIns="0" rtlCol="0" anchor="t"/>
          <a:lstStyle/>
          <a:p>
            <a:pPr marL="0" indent="0" algn="ctr">
              <a:lnSpc>
                <a:spcPts val="2200"/>
              </a:lnSpc>
              <a:buNone/>
            </a:pPr>
            <a:r>
              <a:rPr lang="en-US" sz="1750" dirty="0">
                <a:solidFill>
                  <a:srgbClr val="272525"/>
                </a:solidFill>
                <a:latin typeface="Inter" pitchFamily="34" charset="0"/>
                <a:ea typeface="Inter" pitchFamily="34" charset="-122"/>
                <a:cs typeface="Inter" pitchFamily="34" charset="-120"/>
              </a:rPr>
              <a:t>Return authenticated status</a:t>
            </a:r>
            <a:endParaRPr lang="en-US" sz="1750" dirty="0"/>
          </a:p>
        </p:txBody>
      </p:sp>
      <p:sp>
        <p:nvSpPr>
          <p:cNvPr id="12" name="Text 9"/>
          <p:cNvSpPr/>
          <p:nvPr/>
        </p:nvSpPr>
        <p:spPr>
          <a:xfrm>
            <a:off x="6423379" y="2387403"/>
            <a:ext cx="1936635" cy="705442"/>
          </a:xfrm>
          <a:prstGeom prst="rect">
            <a:avLst/>
          </a:prstGeom>
          <a:noFill/>
          <a:ln/>
        </p:spPr>
        <p:txBody>
          <a:bodyPr wrap="square" lIns="0" tIns="0" rIns="0" bIns="0" rtlCol="0" anchor="t"/>
          <a:lstStyle/>
          <a:p>
            <a:pPr marL="0" indent="0" algn="ctr">
              <a:lnSpc>
                <a:spcPts val="2750"/>
              </a:lnSpc>
              <a:buNone/>
            </a:pPr>
            <a:r>
              <a:rPr lang="en-US" sz="2200" b="1" dirty="0">
                <a:solidFill>
                  <a:srgbClr val="000000"/>
                </a:solidFill>
                <a:latin typeface="Inter Bold" pitchFamily="34" charset="0"/>
                <a:ea typeface="Inter Bold" pitchFamily="34" charset="-122"/>
                <a:cs typeface="Inter Bold" pitchFamily="34" charset="-120"/>
              </a:rPr>
              <a:t>Hash Generation</a:t>
            </a:r>
            <a:endParaRPr lang="en-US" sz="2200" dirty="0"/>
          </a:p>
        </p:txBody>
      </p:sp>
      <p:sp>
        <p:nvSpPr>
          <p:cNvPr id="13" name="Text 10"/>
          <p:cNvSpPr/>
          <p:nvPr/>
        </p:nvSpPr>
        <p:spPr>
          <a:xfrm>
            <a:off x="6423379" y="3193174"/>
            <a:ext cx="1936635" cy="846531"/>
          </a:xfrm>
          <a:prstGeom prst="rect">
            <a:avLst/>
          </a:prstGeom>
          <a:noFill/>
          <a:ln/>
        </p:spPr>
        <p:txBody>
          <a:bodyPr wrap="square" lIns="0" tIns="0" rIns="0" bIns="0" rtlCol="0" anchor="t"/>
          <a:lstStyle/>
          <a:p>
            <a:pPr marL="0" indent="0" algn="ctr">
              <a:lnSpc>
                <a:spcPts val="2200"/>
              </a:lnSpc>
              <a:buNone/>
            </a:pPr>
            <a:r>
              <a:rPr lang="en-US" sz="1750" dirty="0">
                <a:solidFill>
                  <a:srgbClr val="272525"/>
                </a:solidFill>
                <a:latin typeface="Inter" pitchFamily="34" charset="0"/>
                <a:ea typeface="Inter" pitchFamily="34" charset="-122"/>
                <a:cs typeface="Inter" pitchFamily="34" charset="-120"/>
              </a:rPr>
              <a:t>Create cryptographic signature</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44260" y="594598"/>
            <a:ext cx="6997779" cy="664488"/>
          </a:xfrm>
          <a:prstGeom prst="rect">
            <a:avLst/>
          </a:prstGeom>
          <a:noFill/>
          <a:ln/>
        </p:spPr>
        <p:txBody>
          <a:bodyPr wrap="none" lIns="0" tIns="0" rIns="0" bIns="0" rtlCol="0" anchor="t"/>
          <a:lstStyle/>
          <a:p>
            <a:pPr marL="0" indent="0" algn="l">
              <a:lnSpc>
                <a:spcPts val="5200"/>
              </a:lnSpc>
              <a:buNone/>
            </a:pPr>
            <a:r>
              <a:rPr lang="en-US" sz="4150" b="1" dirty="0">
                <a:solidFill>
                  <a:srgbClr val="000000"/>
                </a:solidFill>
                <a:latin typeface="Inter Bold" pitchFamily="34" charset="0"/>
                <a:ea typeface="Inter Bold" pitchFamily="34" charset="-122"/>
                <a:cs typeface="Inter Bold" pitchFamily="34" charset="-120"/>
              </a:rPr>
              <a:t>Front-End Interface Design</a:t>
            </a:r>
            <a:endParaRPr lang="en-US" sz="4150" dirty="0"/>
          </a:p>
        </p:txBody>
      </p:sp>
      <p:sp>
        <p:nvSpPr>
          <p:cNvPr id="4" name="Text 1"/>
          <p:cNvSpPr/>
          <p:nvPr/>
        </p:nvSpPr>
        <p:spPr>
          <a:xfrm>
            <a:off x="6899077" y="2352675"/>
            <a:ext cx="2658070" cy="332303"/>
          </a:xfrm>
          <a:prstGeom prst="rect">
            <a:avLst/>
          </a:prstGeom>
          <a:noFill/>
          <a:ln/>
        </p:spPr>
        <p:txBody>
          <a:bodyPr wrap="none" lIns="0" tIns="0" rIns="0" bIns="0" rtlCol="0" anchor="t"/>
          <a:lstStyle/>
          <a:p>
            <a:pPr marL="0" indent="0" algn="l">
              <a:lnSpc>
                <a:spcPts val="2600"/>
              </a:lnSpc>
              <a:buNone/>
            </a:pPr>
            <a:endParaRPr lang="en-US" sz="2050" dirty="0"/>
          </a:p>
        </p:txBody>
      </p:sp>
      <p:sp>
        <p:nvSpPr>
          <p:cNvPr id="5" name="Text 2"/>
          <p:cNvSpPr/>
          <p:nvPr/>
        </p:nvSpPr>
        <p:spPr>
          <a:xfrm>
            <a:off x="6899077" y="2884289"/>
            <a:ext cx="6994565" cy="1926907"/>
          </a:xfrm>
          <a:prstGeom prst="rect">
            <a:avLst/>
          </a:prstGeom>
          <a:noFill/>
          <a:ln/>
        </p:spPr>
        <p:txBody>
          <a:bodyPr wrap="square" lIns="0" tIns="0" rIns="0" bIns="0" rtlCol="0" anchor="t"/>
          <a:lstStyle/>
          <a:p>
            <a:pPr marL="342900" indent="-342900" algn="l">
              <a:lnSpc>
                <a:spcPts val="2550"/>
              </a:lnSpc>
              <a:buSzPct val="100000"/>
              <a:buChar char="•"/>
            </a:pPr>
            <a:endParaRPr lang="en-US" sz="1650" dirty="0"/>
          </a:p>
        </p:txBody>
      </p:sp>
      <p:sp>
        <p:nvSpPr>
          <p:cNvPr id="6" name="Text 3"/>
          <p:cNvSpPr/>
          <p:nvPr/>
        </p:nvSpPr>
        <p:spPr>
          <a:xfrm>
            <a:off x="6899077" y="5010507"/>
            <a:ext cx="2658070" cy="332303"/>
          </a:xfrm>
          <a:prstGeom prst="rect">
            <a:avLst/>
          </a:prstGeom>
          <a:noFill/>
          <a:ln/>
        </p:spPr>
        <p:txBody>
          <a:bodyPr wrap="none" lIns="0" tIns="0" rIns="0" bIns="0" rtlCol="0" anchor="t"/>
          <a:lstStyle/>
          <a:p>
            <a:pPr marL="0" indent="0" algn="l">
              <a:lnSpc>
                <a:spcPts val="2600"/>
              </a:lnSpc>
              <a:buNone/>
            </a:pPr>
            <a:endParaRPr lang="en-US" sz="2050" dirty="0"/>
          </a:p>
        </p:txBody>
      </p:sp>
      <p:sp>
        <p:nvSpPr>
          <p:cNvPr id="7" name="Text 4"/>
          <p:cNvSpPr/>
          <p:nvPr/>
        </p:nvSpPr>
        <p:spPr>
          <a:xfrm>
            <a:off x="6899077" y="5542121"/>
            <a:ext cx="6994565" cy="1318260"/>
          </a:xfrm>
          <a:prstGeom prst="rect">
            <a:avLst/>
          </a:prstGeom>
          <a:noFill/>
          <a:ln/>
        </p:spPr>
        <p:txBody>
          <a:bodyPr wrap="square" lIns="0" tIns="0" rIns="0" bIns="0" rtlCol="0" anchor="t"/>
          <a:lstStyle/>
          <a:p>
            <a:pPr marL="0" indent="0" algn="l">
              <a:lnSpc>
                <a:spcPts val="2550"/>
              </a:lnSpc>
              <a:buNone/>
            </a:pPr>
            <a:endParaRPr lang="en-US" sz="1650" dirty="0"/>
          </a:p>
        </p:txBody>
      </p:sp>
      <p:pic>
        <p:nvPicPr>
          <p:cNvPr id="13" name="Picture 12">
            <a:extLst>
              <a:ext uri="{FF2B5EF4-FFF2-40B4-BE49-F238E27FC236}">
                <a16:creationId xmlns:a16="http://schemas.microsoft.com/office/drawing/2014/main" id="{296652C9-1BC5-06BB-3C93-C963C57FDDE1}"/>
              </a:ext>
            </a:extLst>
          </p:cNvPr>
          <p:cNvPicPr>
            <a:picLocks noChangeAspect="1"/>
          </p:cNvPicPr>
          <p:nvPr/>
        </p:nvPicPr>
        <p:blipFill>
          <a:blip r:embed="rId3"/>
          <a:stretch>
            <a:fillRect/>
          </a:stretch>
        </p:blipFill>
        <p:spPr>
          <a:xfrm>
            <a:off x="744260" y="1485901"/>
            <a:ext cx="12686236" cy="57816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5CAD78D-3549-BEC1-5E2B-8252AED7F228}"/>
              </a:ext>
            </a:extLst>
          </p:cNvPr>
          <p:cNvPicPr>
            <a:picLocks noChangeAspect="1"/>
          </p:cNvPicPr>
          <p:nvPr/>
        </p:nvPicPr>
        <p:blipFill>
          <a:blip r:embed="rId2"/>
          <a:stretch>
            <a:fillRect/>
          </a:stretch>
        </p:blipFill>
        <p:spPr>
          <a:xfrm>
            <a:off x="2752725" y="328612"/>
            <a:ext cx="8572500" cy="2619375"/>
          </a:xfrm>
          <a:prstGeom prst="rect">
            <a:avLst/>
          </a:prstGeom>
        </p:spPr>
      </p:pic>
      <p:pic>
        <p:nvPicPr>
          <p:cNvPr id="11" name="Picture 10">
            <a:extLst>
              <a:ext uri="{FF2B5EF4-FFF2-40B4-BE49-F238E27FC236}">
                <a16:creationId xmlns:a16="http://schemas.microsoft.com/office/drawing/2014/main" id="{DBFEB795-BFC6-A383-2B45-67012E4027DA}"/>
              </a:ext>
            </a:extLst>
          </p:cNvPr>
          <p:cNvPicPr>
            <a:picLocks noChangeAspect="1"/>
          </p:cNvPicPr>
          <p:nvPr/>
        </p:nvPicPr>
        <p:blipFill>
          <a:blip r:embed="rId3"/>
          <a:stretch>
            <a:fillRect/>
          </a:stretch>
        </p:blipFill>
        <p:spPr>
          <a:xfrm>
            <a:off x="2752725" y="3186112"/>
            <a:ext cx="8572500" cy="3743325"/>
          </a:xfrm>
          <a:prstGeom prst="rect">
            <a:avLst/>
          </a:prstGeom>
        </p:spPr>
      </p:pic>
    </p:spTree>
    <p:extLst>
      <p:ext uri="{BB962C8B-B14F-4D97-AF65-F5344CB8AC3E}">
        <p14:creationId xmlns:p14="http://schemas.microsoft.com/office/powerpoint/2010/main" val="3905345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B0FF3E-E870-2ECB-0BF3-8A4843140D04}"/>
              </a:ext>
            </a:extLst>
          </p:cNvPr>
          <p:cNvSpPr txBox="1"/>
          <p:nvPr/>
        </p:nvSpPr>
        <p:spPr>
          <a:xfrm>
            <a:off x="1485900" y="390526"/>
            <a:ext cx="11868150" cy="523220"/>
          </a:xfrm>
          <a:prstGeom prst="rect">
            <a:avLst/>
          </a:prstGeom>
          <a:noFill/>
        </p:spPr>
        <p:txBody>
          <a:bodyPr wrap="square" rtlCol="0">
            <a:spAutoFit/>
          </a:bodyPr>
          <a:lstStyle/>
          <a:p>
            <a:r>
              <a:rPr lang="en-US" sz="2800" b="1" dirty="0"/>
              <a:t>Proof of the Prompts Generating Codes</a:t>
            </a:r>
            <a:endParaRPr lang="en-IN" sz="2800" b="1" dirty="0"/>
          </a:p>
        </p:txBody>
      </p:sp>
      <p:pic>
        <p:nvPicPr>
          <p:cNvPr id="4" name="Picture 3">
            <a:extLst>
              <a:ext uri="{FF2B5EF4-FFF2-40B4-BE49-F238E27FC236}">
                <a16:creationId xmlns:a16="http://schemas.microsoft.com/office/drawing/2014/main" id="{98A1C90D-4AFE-77FA-A7BA-559575D64E4C}"/>
              </a:ext>
            </a:extLst>
          </p:cNvPr>
          <p:cNvPicPr>
            <a:picLocks noChangeAspect="1"/>
          </p:cNvPicPr>
          <p:nvPr/>
        </p:nvPicPr>
        <p:blipFill>
          <a:blip r:embed="rId2"/>
          <a:stretch>
            <a:fillRect/>
          </a:stretch>
        </p:blipFill>
        <p:spPr>
          <a:xfrm>
            <a:off x="490538" y="1295401"/>
            <a:ext cx="5722661" cy="2819399"/>
          </a:xfrm>
          <a:prstGeom prst="rect">
            <a:avLst/>
          </a:prstGeom>
        </p:spPr>
      </p:pic>
      <p:pic>
        <p:nvPicPr>
          <p:cNvPr id="6" name="Picture 5">
            <a:extLst>
              <a:ext uri="{FF2B5EF4-FFF2-40B4-BE49-F238E27FC236}">
                <a16:creationId xmlns:a16="http://schemas.microsoft.com/office/drawing/2014/main" id="{AC3D7AA0-4F46-32FC-121B-AEB286DBE510}"/>
              </a:ext>
            </a:extLst>
          </p:cNvPr>
          <p:cNvPicPr>
            <a:picLocks noChangeAspect="1"/>
          </p:cNvPicPr>
          <p:nvPr/>
        </p:nvPicPr>
        <p:blipFill>
          <a:blip r:embed="rId3"/>
          <a:stretch>
            <a:fillRect/>
          </a:stretch>
        </p:blipFill>
        <p:spPr>
          <a:xfrm>
            <a:off x="7494460" y="1295402"/>
            <a:ext cx="5316665" cy="2871702"/>
          </a:xfrm>
          <a:prstGeom prst="rect">
            <a:avLst/>
          </a:prstGeom>
        </p:spPr>
      </p:pic>
      <p:pic>
        <p:nvPicPr>
          <p:cNvPr id="8" name="Picture 7">
            <a:extLst>
              <a:ext uri="{FF2B5EF4-FFF2-40B4-BE49-F238E27FC236}">
                <a16:creationId xmlns:a16="http://schemas.microsoft.com/office/drawing/2014/main" id="{608BD716-B5AA-482E-C5F5-E268D56F7149}"/>
              </a:ext>
            </a:extLst>
          </p:cNvPr>
          <p:cNvPicPr>
            <a:picLocks noChangeAspect="1"/>
          </p:cNvPicPr>
          <p:nvPr/>
        </p:nvPicPr>
        <p:blipFill>
          <a:blip r:embed="rId4"/>
          <a:stretch>
            <a:fillRect/>
          </a:stretch>
        </p:blipFill>
        <p:spPr>
          <a:xfrm>
            <a:off x="519963" y="4452936"/>
            <a:ext cx="5663809" cy="3386138"/>
          </a:xfrm>
          <a:prstGeom prst="rect">
            <a:avLst/>
          </a:prstGeom>
        </p:spPr>
      </p:pic>
      <p:sp>
        <p:nvSpPr>
          <p:cNvPr id="9" name="AutoShape 2">
            <a:extLst>
              <a:ext uri="{FF2B5EF4-FFF2-40B4-BE49-F238E27FC236}">
                <a16:creationId xmlns:a16="http://schemas.microsoft.com/office/drawing/2014/main" id="{8460C06E-A139-87D4-612E-36728A272C8B}"/>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4">
            <a:extLst>
              <a:ext uri="{FF2B5EF4-FFF2-40B4-BE49-F238E27FC236}">
                <a16:creationId xmlns:a16="http://schemas.microsoft.com/office/drawing/2014/main" id="{949798F3-36E4-AA84-E19F-8F40B0D6305D}"/>
              </a:ext>
            </a:extLst>
          </p:cNvPr>
          <p:cNvSpPr>
            <a:spLocks noChangeAspect="1" noChangeArrowheads="1"/>
          </p:cNvSpPr>
          <p:nvPr/>
        </p:nvSpPr>
        <p:spPr bwMode="auto">
          <a:xfrm>
            <a:off x="7315200" y="411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 name="AutoShape 6">
            <a:extLst>
              <a:ext uri="{FF2B5EF4-FFF2-40B4-BE49-F238E27FC236}">
                <a16:creationId xmlns:a16="http://schemas.microsoft.com/office/drawing/2014/main" id="{7B56270A-1B4A-AB9B-9E9A-20DFC2910C52}"/>
              </a:ext>
            </a:extLst>
          </p:cNvPr>
          <p:cNvSpPr>
            <a:spLocks noChangeAspect="1" noChangeArrowheads="1"/>
          </p:cNvSpPr>
          <p:nvPr/>
        </p:nvSpPr>
        <p:spPr bwMode="auto">
          <a:xfrm>
            <a:off x="7467600" y="426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3" name="Picture 12">
            <a:extLst>
              <a:ext uri="{FF2B5EF4-FFF2-40B4-BE49-F238E27FC236}">
                <a16:creationId xmlns:a16="http://schemas.microsoft.com/office/drawing/2014/main" id="{6F92EDEE-8358-12D8-A0B8-02F96267FA75}"/>
              </a:ext>
            </a:extLst>
          </p:cNvPr>
          <p:cNvPicPr>
            <a:picLocks noChangeAspect="1"/>
          </p:cNvPicPr>
          <p:nvPr/>
        </p:nvPicPr>
        <p:blipFill>
          <a:blip r:embed="rId5"/>
          <a:stretch>
            <a:fillRect/>
          </a:stretch>
        </p:blipFill>
        <p:spPr>
          <a:xfrm>
            <a:off x="7494460" y="4519696"/>
            <a:ext cx="5633787" cy="3319377"/>
          </a:xfrm>
          <a:prstGeom prst="rect">
            <a:avLst/>
          </a:prstGeom>
        </p:spPr>
      </p:pic>
    </p:spTree>
    <p:extLst>
      <p:ext uri="{BB962C8B-B14F-4D97-AF65-F5344CB8AC3E}">
        <p14:creationId xmlns:p14="http://schemas.microsoft.com/office/powerpoint/2010/main" val="1632649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29367C-C55B-6276-2C9A-267DA2EF3AEE}"/>
              </a:ext>
            </a:extLst>
          </p:cNvPr>
          <p:cNvPicPr>
            <a:picLocks noChangeAspect="1"/>
          </p:cNvPicPr>
          <p:nvPr/>
        </p:nvPicPr>
        <p:blipFill>
          <a:blip r:embed="rId2"/>
          <a:stretch>
            <a:fillRect/>
          </a:stretch>
        </p:blipFill>
        <p:spPr>
          <a:xfrm>
            <a:off x="285751" y="271463"/>
            <a:ext cx="6115048" cy="4005836"/>
          </a:xfrm>
          <a:prstGeom prst="rect">
            <a:avLst/>
          </a:prstGeom>
        </p:spPr>
      </p:pic>
      <p:pic>
        <p:nvPicPr>
          <p:cNvPr id="5" name="Picture 4">
            <a:extLst>
              <a:ext uri="{FF2B5EF4-FFF2-40B4-BE49-F238E27FC236}">
                <a16:creationId xmlns:a16="http://schemas.microsoft.com/office/drawing/2014/main" id="{C4B28D59-D1BC-01B9-EFD5-45C7814F6368}"/>
              </a:ext>
            </a:extLst>
          </p:cNvPr>
          <p:cNvPicPr>
            <a:picLocks noChangeAspect="1"/>
          </p:cNvPicPr>
          <p:nvPr/>
        </p:nvPicPr>
        <p:blipFill>
          <a:blip r:embed="rId3"/>
          <a:stretch>
            <a:fillRect/>
          </a:stretch>
        </p:blipFill>
        <p:spPr>
          <a:xfrm>
            <a:off x="7019925" y="340518"/>
            <a:ext cx="6934200" cy="4038600"/>
          </a:xfrm>
          <a:prstGeom prst="rect">
            <a:avLst/>
          </a:prstGeom>
        </p:spPr>
      </p:pic>
      <p:pic>
        <p:nvPicPr>
          <p:cNvPr id="7" name="Picture 6">
            <a:extLst>
              <a:ext uri="{FF2B5EF4-FFF2-40B4-BE49-F238E27FC236}">
                <a16:creationId xmlns:a16="http://schemas.microsoft.com/office/drawing/2014/main" id="{94232287-DFB3-960B-8616-45E9B01BA7B4}"/>
              </a:ext>
            </a:extLst>
          </p:cNvPr>
          <p:cNvPicPr>
            <a:picLocks noChangeAspect="1"/>
          </p:cNvPicPr>
          <p:nvPr/>
        </p:nvPicPr>
        <p:blipFill>
          <a:blip r:embed="rId3"/>
          <a:stretch>
            <a:fillRect/>
          </a:stretch>
        </p:blipFill>
        <p:spPr>
          <a:xfrm>
            <a:off x="285750" y="4791075"/>
            <a:ext cx="6115049" cy="3038619"/>
          </a:xfrm>
          <a:prstGeom prst="rect">
            <a:avLst/>
          </a:prstGeom>
        </p:spPr>
      </p:pic>
      <p:pic>
        <p:nvPicPr>
          <p:cNvPr id="9" name="Picture 8">
            <a:extLst>
              <a:ext uri="{FF2B5EF4-FFF2-40B4-BE49-F238E27FC236}">
                <a16:creationId xmlns:a16="http://schemas.microsoft.com/office/drawing/2014/main" id="{6E200BC7-188E-DCDA-47DA-EEE43F3C2457}"/>
              </a:ext>
            </a:extLst>
          </p:cNvPr>
          <p:cNvPicPr>
            <a:picLocks noChangeAspect="1"/>
          </p:cNvPicPr>
          <p:nvPr/>
        </p:nvPicPr>
        <p:blipFill>
          <a:blip r:embed="rId4"/>
          <a:stretch>
            <a:fillRect/>
          </a:stretch>
        </p:blipFill>
        <p:spPr>
          <a:xfrm>
            <a:off x="7019925" y="4791074"/>
            <a:ext cx="6934200" cy="2980423"/>
          </a:xfrm>
          <a:prstGeom prst="rect">
            <a:avLst/>
          </a:prstGeom>
        </p:spPr>
      </p:pic>
    </p:spTree>
    <p:extLst>
      <p:ext uri="{BB962C8B-B14F-4D97-AF65-F5344CB8AC3E}">
        <p14:creationId xmlns:p14="http://schemas.microsoft.com/office/powerpoint/2010/main" val="2902031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009650"/>
            <a:ext cx="6727865"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References &amp; Resources</a:t>
            </a:r>
            <a:endParaRPr lang="en-US" sz="4450" dirty="0"/>
          </a:p>
        </p:txBody>
      </p:sp>
      <p:sp>
        <p:nvSpPr>
          <p:cNvPr id="3" name="Shape 1"/>
          <p:cNvSpPr/>
          <p:nvPr/>
        </p:nvSpPr>
        <p:spPr>
          <a:xfrm>
            <a:off x="793790" y="2172057"/>
            <a:ext cx="4196358" cy="4429720"/>
          </a:xfrm>
          <a:prstGeom prst="roundRect">
            <a:avLst>
              <a:gd name="adj" fmla="val 2270"/>
            </a:avLst>
          </a:prstGeom>
          <a:solidFill>
            <a:srgbClr val="FFFFFF"/>
          </a:solidFill>
          <a:ln w="30480">
            <a:solidFill>
              <a:srgbClr val="C0C1D7"/>
            </a:solidFill>
            <a:prstDash val="solid"/>
          </a:ln>
        </p:spPr>
      </p:sp>
      <p:sp>
        <p:nvSpPr>
          <p:cNvPr id="4" name="Text 2"/>
          <p:cNvSpPr/>
          <p:nvPr/>
        </p:nvSpPr>
        <p:spPr>
          <a:xfrm>
            <a:off x="1051084" y="242935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Research Papers</a:t>
            </a:r>
            <a:endParaRPr lang="en-US" sz="2200" dirty="0"/>
          </a:p>
        </p:txBody>
      </p:sp>
      <p:sp>
        <p:nvSpPr>
          <p:cNvPr id="5" name="Text 3"/>
          <p:cNvSpPr/>
          <p:nvPr/>
        </p:nvSpPr>
        <p:spPr>
          <a:xfrm>
            <a:off x="1051084" y="2919770"/>
            <a:ext cx="3681770" cy="3424714"/>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"Deep Learning for Digital Image Forensics" - IEEE Transactions, 2023</a:t>
            </a:r>
            <a:endParaRPr lang="en-US" sz="1750" dirty="0"/>
          </a:p>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"Blockchain-Based Content Authentication" - ACM Computing Surveys, 2022</a:t>
            </a:r>
            <a:endParaRPr lang="en-US" sz="1750" dirty="0"/>
          </a:p>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"Detecting AI-Generated Content" - Nature Machine Intelligence, 2024</a:t>
            </a:r>
            <a:endParaRPr lang="en-US" sz="1750" dirty="0"/>
          </a:p>
        </p:txBody>
      </p:sp>
      <p:sp>
        <p:nvSpPr>
          <p:cNvPr id="6" name="Shape 4"/>
          <p:cNvSpPr/>
          <p:nvPr/>
        </p:nvSpPr>
        <p:spPr>
          <a:xfrm>
            <a:off x="5216962" y="2172057"/>
            <a:ext cx="4196358" cy="4429720"/>
          </a:xfrm>
          <a:prstGeom prst="roundRect">
            <a:avLst>
              <a:gd name="adj" fmla="val 2270"/>
            </a:avLst>
          </a:prstGeom>
          <a:solidFill>
            <a:srgbClr val="FFFFFF"/>
          </a:solidFill>
          <a:ln w="30480">
            <a:solidFill>
              <a:srgbClr val="C0C1D7"/>
            </a:solidFill>
            <a:prstDash val="solid"/>
          </a:ln>
        </p:spPr>
      </p:sp>
      <p:sp>
        <p:nvSpPr>
          <p:cNvPr id="7" name="Text 5"/>
          <p:cNvSpPr/>
          <p:nvPr/>
        </p:nvSpPr>
        <p:spPr>
          <a:xfrm>
            <a:off x="5474256" y="2429351"/>
            <a:ext cx="3535918"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Technical Documentation</a:t>
            </a:r>
            <a:endParaRPr lang="en-US" sz="2200" dirty="0"/>
          </a:p>
        </p:txBody>
      </p:sp>
      <p:sp>
        <p:nvSpPr>
          <p:cNvPr id="8" name="Text 6"/>
          <p:cNvSpPr/>
          <p:nvPr/>
        </p:nvSpPr>
        <p:spPr>
          <a:xfrm>
            <a:off x="5474256" y="2919770"/>
            <a:ext cx="3681770" cy="2336006"/>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Ethereum Yellow Paper - ethereum.org</a:t>
            </a:r>
            <a:endParaRPr lang="en-US" sz="1750" dirty="0"/>
          </a:p>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TensorFlow Developer Guide - tensorflow.org</a:t>
            </a:r>
            <a:endParaRPr lang="en-US" sz="1750" dirty="0"/>
          </a:p>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Web3.js Documentation - web3js.readthedocs.io</a:t>
            </a:r>
            <a:endParaRPr lang="en-US" sz="1750" dirty="0"/>
          </a:p>
        </p:txBody>
      </p:sp>
      <p:sp>
        <p:nvSpPr>
          <p:cNvPr id="9" name="Shape 7"/>
          <p:cNvSpPr/>
          <p:nvPr/>
        </p:nvSpPr>
        <p:spPr>
          <a:xfrm>
            <a:off x="9640133" y="2172057"/>
            <a:ext cx="4196358" cy="4429720"/>
          </a:xfrm>
          <a:prstGeom prst="roundRect">
            <a:avLst>
              <a:gd name="adj" fmla="val 2270"/>
            </a:avLst>
          </a:prstGeom>
          <a:solidFill>
            <a:srgbClr val="FFFFFF"/>
          </a:solidFill>
          <a:ln w="30480">
            <a:solidFill>
              <a:srgbClr val="C0C1D7"/>
            </a:solidFill>
            <a:prstDash val="solid"/>
          </a:ln>
        </p:spPr>
      </p:sp>
      <p:sp>
        <p:nvSpPr>
          <p:cNvPr id="10" name="Text 8"/>
          <p:cNvSpPr/>
          <p:nvPr/>
        </p:nvSpPr>
        <p:spPr>
          <a:xfrm>
            <a:off x="9897427" y="2429351"/>
            <a:ext cx="2994779"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Inter Bold" pitchFamily="34" charset="0"/>
                <a:ea typeface="Inter Bold" pitchFamily="34" charset="-122"/>
                <a:cs typeface="Inter Bold" pitchFamily="34" charset="-120"/>
              </a:rPr>
              <a:t>Open Source Projects</a:t>
            </a:r>
            <a:endParaRPr lang="en-US" sz="2200" dirty="0"/>
          </a:p>
        </p:txBody>
      </p:sp>
      <p:sp>
        <p:nvSpPr>
          <p:cNvPr id="11" name="Text 9"/>
          <p:cNvSpPr/>
          <p:nvPr/>
        </p:nvSpPr>
        <p:spPr>
          <a:xfrm>
            <a:off x="9897427" y="2919770"/>
            <a:ext cx="3681770" cy="1973104"/>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Deepfake Detection Challenge GitHub Repository</a:t>
            </a:r>
            <a:endParaRPr lang="en-US" sz="1750" dirty="0"/>
          </a:p>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IPFS Documentation and Tools</a:t>
            </a:r>
            <a:endParaRPr lang="en-US" sz="1750" dirty="0"/>
          </a:p>
          <a:p>
            <a:pPr marL="342900" indent="-342900" algn="l">
              <a:lnSpc>
                <a:spcPts val="2850"/>
              </a:lnSpc>
              <a:buSzPct val="100000"/>
              <a:buChar char="•"/>
            </a:pPr>
            <a:r>
              <a:rPr lang="en-US" sz="1750" dirty="0">
                <a:solidFill>
                  <a:srgbClr val="272525"/>
                </a:solidFill>
                <a:latin typeface="Inter" pitchFamily="34" charset="0"/>
                <a:ea typeface="Inter" pitchFamily="34" charset="-122"/>
                <a:cs typeface="Inter" pitchFamily="34" charset="-120"/>
              </a:rPr>
              <a:t>OpenAI CLIP Model Implementation</a:t>
            </a:r>
            <a:endParaRPr lang="en-US" sz="1750" dirty="0"/>
          </a:p>
        </p:txBody>
      </p:sp>
      <p:sp>
        <p:nvSpPr>
          <p:cNvPr id="12" name="Text 10"/>
          <p:cNvSpPr/>
          <p:nvPr/>
        </p:nvSpPr>
        <p:spPr>
          <a:xfrm>
            <a:off x="1587579" y="6921280"/>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C0C60B-6F7E-1358-C01C-C23A61E99038}"/>
              </a:ext>
            </a:extLst>
          </p:cNvPr>
          <p:cNvSpPr txBox="1"/>
          <p:nvPr/>
        </p:nvSpPr>
        <p:spPr>
          <a:xfrm>
            <a:off x="3552825" y="2438400"/>
            <a:ext cx="7000875" cy="1323439"/>
          </a:xfrm>
          <a:prstGeom prst="rect">
            <a:avLst/>
          </a:prstGeom>
          <a:noFill/>
        </p:spPr>
        <p:txBody>
          <a:bodyPr wrap="square" rtlCol="0">
            <a:spAutoFit/>
          </a:bodyPr>
          <a:lstStyle/>
          <a:p>
            <a:r>
              <a:rPr lang="en-US" sz="6000" b="1" dirty="0"/>
              <a:t>         </a:t>
            </a:r>
            <a:r>
              <a:rPr lang="en-US" sz="8000" b="1" dirty="0"/>
              <a:t>Thank you</a:t>
            </a:r>
            <a:endParaRPr lang="en-IN" sz="8000" b="1" dirty="0"/>
          </a:p>
        </p:txBody>
      </p:sp>
    </p:spTree>
    <p:extLst>
      <p:ext uri="{BB962C8B-B14F-4D97-AF65-F5344CB8AC3E}">
        <p14:creationId xmlns:p14="http://schemas.microsoft.com/office/powerpoint/2010/main" val="3493716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862</Words>
  <Application>Microsoft Office PowerPoint</Application>
  <PresentationFormat>Custom</PresentationFormat>
  <Paragraphs>116</Paragraphs>
  <Slides>14</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Inter</vt:lpstr>
      <vt:lpstr>Inter Bold</vt:lpstr>
      <vt:lpstr>Inter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SRAVANI</dc:creator>
  <cp:lastModifiedBy>vangasravani04@hotmail.com</cp:lastModifiedBy>
  <cp:revision>2</cp:revision>
  <dcterms:created xsi:type="dcterms:W3CDTF">2026-04-19T16:56:35Z</dcterms:created>
  <dcterms:modified xsi:type="dcterms:W3CDTF">2026-04-20T05:51:58Z</dcterms:modified>
</cp:coreProperties>
</file>